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613bc3348f4940" /><Relationship Type="http://schemas.openxmlformats.org/officeDocument/2006/relationships/extended-properties" Target="/docProps/app.xml" Id="Rc37c75670e824f48" /><Relationship Type="http://schemas.openxmlformats.org/officeDocument/2006/relationships/officeDocument" Target="/ppt/presentation.xml" Id="Re9aa491275e848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86fd5dbc4e4fc1"/>
    <p:sldMasterId xmlns:r="http://schemas.openxmlformats.org/officeDocument/2006/relationships" id="2147483660" r:id="R42b6de60507b44d7"/>
  </p:sldMasterIdLst>
  <p:notesMasterIdLst>
    <p:notesMasterId xmlns:r="http://schemas.openxmlformats.org/officeDocument/2006/relationships" r:id="R97a2d422fb7f4574"/>
  </p:notesMasterIdLst>
  <p:sldIdLst>
    <p:sldId xmlns:r="http://schemas.openxmlformats.org/officeDocument/2006/relationships" id="256" r:id="R2c2f82dac8a84be4"/>
    <p:sldId xmlns:r="http://schemas.openxmlformats.org/officeDocument/2006/relationships" id="257" r:id="R938e0018ebca4e5b"/>
    <p:sldId xmlns:r="http://schemas.openxmlformats.org/officeDocument/2006/relationships" id="258" r:id="Rfd70cace8b8f45e4"/>
    <p:sldId xmlns:r="http://schemas.openxmlformats.org/officeDocument/2006/relationships" id="259" r:id="R98cf71f80415494b"/>
    <p:sldId xmlns:r="http://schemas.openxmlformats.org/officeDocument/2006/relationships" id="260" r:id="Rf10ea198e339433e"/>
    <p:sldId xmlns:r="http://schemas.openxmlformats.org/officeDocument/2006/relationships" id="261" r:id="Re3e3996e16564269"/>
    <p:sldId xmlns:r="http://schemas.openxmlformats.org/officeDocument/2006/relationships" id="262" r:id="R4a8c11dd47194fe9"/>
    <p:sldId xmlns:r="http://schemas.openxmlformats.org/officeDocument/2006/relationships" id="263" r:id="Rc9845772148a435a"/>
    <p:sldId xmlns:r="http://schemas.openxmlformats.org/officeDocument/2006/relationships" id="264" r:id="R7827d6cf3508419b"/>
    <p:sldId xmlns:r="http://schemas.openxmlformats.org/officeDocument/2006/relationships" id="265" r:id="R9cc152cdb15347bc"/>
    <p:sldId xmlns:r="http://schemas.openxmlformats.org/officeDocument/2006/relationships" id="266" r:id="Rc3205e98f36d48d7"/>
    <p:sldId xmlns:r="http://schemas.openxmlformats.org/officeDocument/2006/relationships" id="267" r:id="R238db696e91a4751"/>
    <p:sldId xmlns:r="http://schemas.openxmlformats.org/officeDocument/2006/relationships" id="268" r:id="R34f8362a31c24547"/>
    <p:sldId xmlns:r="http://schemas.openxmlformats.org/officeDocument/2006/relationships" id="269" r:id="Rcc9dc0428b5d475b"/>
    <p:sldId xmlns:r="http://schemas.openxmlformats.org/officeDocument/2006/relationships" id="270" r:id="Rab7a26a8f29b46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8EE72CCD-7DEC-44B5-BE62-3EE02A22F0E7}">
  <a:tblStyle styleId="{8EE72CCD-7DEC-44B5-BE62-3EE02A22F0E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5449979a9e44ea" /><Relationship Type="http://schemas.openxmlformats.org/officeDocument/2006/relationships/slideMaster" Target="/ppt/slideMasters/slideMaster1.xml" Id="Rf086fd5dbc4e4fc1" /><Relationship Type="http://schemas.openxmlformats.org/officeDocument/2006/relationships/slideMaster" Target="/ppt/slideMasters/slideMaster2.xml" Id="R42b6de60507b44d7" /><Relationship Type="http://schemas.openxmlformats.org/officeDocument/2006/relationships/notesMaster" Target="/ppt/notesMasters/notesMaster1.xml" Id="R97a2d422fb7f4574" /><Relationship Type="http://schemas.openxmlformats.org/officeDocument/2006/relationships/presProps" Target="/ppt/presProps.xml" Id="R46482446ac49411b" /><Relationship Type="http://schemas.openxmlformats.org/officeDocument/2006/relationships/viewProps" Target="/ppt/viewProps.xml" Id="Ref4deb61dedd4d3d" /><Relationship Type="http://schemas.openxmlformats.org/officeDocument/2006/relationships/tableStyles" Target="/ppt/tableStyles.xml" Id="R031555fb3d2d42af" /><Relationship Type="http://schemas.openxmlformats.org/officeDocument/2006/relationships/slide" Target="/ppt/slides/slide1.xml" Id="R2c2f82dac8a84be4" /><Relationship Type="http://schemas.openxmlformats.org/officeDocument/2006/relationships/slide" Target="/ppt/slides/slide2.xml" Id="R938e0018ebca4e5b" /><Relationship Type="http://schemas.openxmlformats.org/officeDocument/2006/relationships/slide" Target="/ppt/slides/slide3.xml" Id="Rfd70cace8b8f45e4" /><Relationship Type="http://schemas.openxmlformats.org/officeDocument/2006/relationships/slide" Target="/ppt/slides/slide4.xml" Id="R98cf71f80415494b" /><Relationship Type="http://schemas.openxmlformats.org/officeDocument/2006/relationships/slide" Target="/ppt/slides/slide5.xml" Id="Rf10ea198e339433e" /><Relationship Type="http://schemas.openxmlformats.org/officeDocument/2006/relationships/slide" Target="/ppt/slides/slide6.xml" Id="Re3e3996e16564269" /><Relationship Type="http://schemas.openxmlformats.org/officeDocument/2006/relationships/slide" Target="/ppt/slides/slide7.xml" Id="R4a8c11dd47194fe9" /><Relationship Type="http://schemas.openxmlformats.org/officeDocument/2006/relationships/slide" Target="/ppt/slides/slide8.xml" Id="Rc9845772148a435a" /><Relationship Type="http://schemas.openxmlformats.org/officeDocument/2006/relationships/slide" Target="/ppt/slides/slide9.xml" Id="R7827d6cf3508419b" /><Relationship Type="http://schemas.openxmlformats.org/officeDocument/2006/relationships/slide" Target="/ppt/slides/slide10.xml" Id="R9cc152cdb15347bc" /><Relationship Type="http://schemas.openxmlformats.org/officeDocument/2006/relationships/slide" Target="/ppt/slides/slide11.xml" Id="Rc3205e98f36d48d7" /><Relationship Type="http://schemas.openxmlformats.org/officeDocument/2006/relationships/slide" Target="/ppt/slides/slide12.xml" Id="R238db696e91a4751" /><Relationship Type="http://schemas.openxmlformats.org/officeDocument/2006/relationships/slide" Target="/ppt/slides/slide13.xml" Id="R34f8362a31c24547" /><Relationship Type="http://schemas.openxmlformats.org/officeDocument/2006/relationships/slide" Target="/ppt/slides/slide14.xml" Id="Rcc9dc0428b5d475b" /><Relationship Type="http://schemas.openxmlformats.org/officeDocument/2006/relationships/slide" Target="/ppt/slides/slide15.xml" Id="Rab7a26a8f29b46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1e4a0eaf53246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f715d8e9da4743" /><Relationship Type="http://schemas.openxmlformats.org/officeDocument/2006/relationships/notesMaster" Target="/ppt/notesMasters/notesMaster1.xml" Id="Rfdf2c32895814d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3ef9e5407a4218" /><Relationship Type="http://schemas.openxmlformats.org/officeDocument/2006/relationships/notesMaster" Target="/ppt/notesMasters/notesMaster1.xml" Id="R28ca68fbcbc046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dc5901566149d4" /><Relationship Type="http://schemas.openxmlformats.org/officeDocument/2006/relationships/notesMaster" Target="/ppt/notesMasters/notesMaster1.xml" Id="R32893c8469eb47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cdfe4e2ce642d7" /><Relationship Type="http://schemas.openxmlformats.org/officeDocument/2006/relationships/notesMaster" Target="/ppt/notesMasters/notesMaster1.xml" Id="Rf14970cbc1cc44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c3960e346b4449" /><Relationship Type="http://schemas.openxmlformats.org/officeDocument/2006/relationships/notesMaster" Target="/ppt/notesMasters/notesMaster1.xml" Id="R0620d58619b847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5057029eb046cf" /><Relationship Type="http://schemas.openxmlformats.org/officeDocument/2006/relationships/notesMaster" Target="/ppt/notesMasters/notesMaster1.xml" Id="R51272b2608b840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2ef5fdae194bf4" /><Relationship Type="http://schemas.openxmlformats.org/officeDocument/2006/relationships/notesMaster" Target="/ppt/notesMasters/notesMaster1.xml" Id="Rf50c01dbe2fd45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45df1618cd4114" /><Relationship Type="http://schemas.openxmlformats.org/officeDocument/2006/relationships/notesMaster" Target="/ppt/notesMasters/notesMaster1.xml" Id="R8e40c6a7c4cc45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43eda3ffbc4a9d" /><Relationship Type="http://schemas.openxmlformats.org/officeDocument/2006/relationships/notesMaster" Target="/ppt/notesMasters/notesMaster1.xml" Id="R0b2a686961b746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dfa811d73049ed" /><Relationship Type="http://schemas.openxmlformats.org/officeDocument/2006/relationships/notesMaster" Target="/ppt/notesMasters/notesMaster1.xml" Id="R4f8b1008495948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dc0e35e3fa43cc" /><Relationship Type="http://schemas.openxmlformats.org/officeDocument/2006/relationships/notesMaster" Target="/ppt/notesMasters/notesMaster1.xml" Id="R9039e8f48a7c46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0d45065fa24280" /><Relationship Type="http://schemas.openxmlformats.org/officeDocument/2006/relationships/notesMaster" Target="/ppt/notesMasters/notesMaster1.xml" Id="R834328c74feb4d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4caecaeafe4f94" /><Relationship Type="http://schemas.openxmlformats.org/officeDocument/2006/relationships/notesMaster" Target="/ppt/notesMasters/notesMaster1.xml" Id="R51799b80b7774e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d20a0ab9644f15" /><Relationship Type="http://schemas.openxmlformats.org/officeDocument/2006/relationships/notesMaster" Target="/ppt/notesMasters/notesMaster1.xml" Id="Re9f365dc50e149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26b9adff144660" /><Relationship Type="http://schemas.openxmlformats.org/officeDocument/2006/relationships/notesMaster" Target="/ppt/notesMasters/notesMaster1.xml" Id="R5791af3e81344c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646e5887f43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70e19fd1f48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6a3523c144b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d4ffc1fcc4c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eab64192b42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43c7a1910411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2945acc6c477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c97cadadbf472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0173b5f6f548a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30b54ceca4fa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64141858144b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4c8ba1b7d1f413d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F0E43DB1-1C6F-4DB3-B553-F6BE881F68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1FFDA8EE-FAF5-4710-BF03-AF9F9C8500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7E153FC6-5D86-443C-AE7D-C49150EB95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A90E08AE-8E1F-4B0C-8EF1-3A3643942A3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0A46191E-74C8-4C9C-BD3F-67E2F3F69C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540689D3-BB7C-480E-A040-8557CBE562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BBB00209-6415-43A9-9449-D497EF96AB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0086C4D5-08AD-424A-A9A0-60B59379A5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2331AC2F-7F4B-4DCA-A144-232C969442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B56D89BD-9B05-4704-AF2A-4E83C54FE8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96B1B9BD-7929-47E9-873B-570EA5334C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938D99CC-FDDB-4620-85D2-F6D18A574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902A0815-9D4E-4B15-AE3A-221A140042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C06C43F9-E1C0-404C-8A70-4CA22121A1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129A9774-CF14-48A8-9DE2-943661F4FD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E86066A1-76F3-4A73-AA10-38DEE680D5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F529040A-B66A-445B-8028-7FF5B7FBDF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13E6DBC3-66E3-4D77-BC96-282EC03C20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93157268-FB78-4E92-B67E-CEEFD9E35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2E333D52-B02A-4A14-A352-18FB55597D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7706020D-CA17-459D-96D2-C85D2FA910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BB2AACAE-C0FA-45BA-9516-7BCE5C06DE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B04205FC-DC6D-4275-8693-628500C2E6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984FC6C-693F-4C7E-9A42-597AD1D9CF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DBC766CC-70D3-4EB6-A9FE-B1461A07B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A2EA5D74-256B-42B0-8CB0-2AD117B50D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A9487846-1CE8-44F3-8D58-0B6683E349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553B2851-7E21-45E5-9AFC-FDD8A130205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2A0DE369-98D6-4068-A81D-D7C8D825662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5BE2399E-9FF6-4C09-BD5A-32FB0B97FD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AD956A4B-953B-4813-B9ED-E2D181FCAB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90EE5DE9-01A1-4DF4-89A0-8548C103C3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8">
            <a:extLst xmlns:a="http://schemas.openxmlformats.org/drawingml/2006/main">
              <a:ext uri="{FF2B5EF4-FFF2-40B4-BE49-F238E27FC236}">
                <a16:creationId xmlns:a16="http://schemas.microsoft.com/office/drawing/2014/main" id="{DC1F90E6-4F9E-4433-BC53-661DD35091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8">
            <a:extLst xmlns:a="http://schemas.openxmlformats.org/drawingml/2006/main">
              <a:ext uri="{FF2B5EF4-FFF2-40B4-BE49-F238E27FC236}">
                <a16:creationId xmlns:a16="http://schemas.microsoft.com/office/drawing/2014/main" id="{110037ED-C3D1-4864-89C1-1CAFA0E791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8">
            <a:extLst xmlns:a="http://schemas.openxmlformats.org/drawingml/2006/main">
              <a:ext uri="{FF2B5EF4-FFF2-40B4-BE49-F238E27FC236}">
                <a16:creationId xmlns:a16="http://schemas.microsoft.com/office/drawing/2014/main" id="{53047E31-1CB4-4FB1-9A23-AEF89C6921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88EF9F09-AC67-4A8D-9F3D-5BDD3B29E9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9">
            <a:extLst xmlns:a="http://schemas.openxmlformats.org/drawingml/2006/main">
              <a:ext uri="{FF2B5EF4-FFF2-40B4-BE49-F238E27FC236}">
                <a16:creationId xmlns:a16="http://schemas.microsoft.com/office/drawing/2014/main" id="{4FB46163-F03A-462A-B890-685802FFA2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8807114C-3E20-4852-9402-CFD8512E6F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D77C8B1C-2424-4ADF-8D9E-260B23526F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C4EEC39F-89E7-43DC-B14A-730A7B2640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B2E435D5-B5C9-4A77-98AF-D7FCC5AA25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E780ABF7-04CA-4186-AD2B-407E61B34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0">
            <a:extLst xmlns:a="http://schemas.openxmlformats.org/drawingml/2006/main">
              <a:ext uri="{FF2B5EF4-FFF2-40B4-BE49-F238E27FC236}">
                <a16:creationId xmlns:a16="http://schemas.microsoft.com/office/drawing/2014/main" id="{DE1975EA-3427-4011-9B99-A513FD139A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E0E5D740-AD86-413A-98FB-E0CD650F0DC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1AAA1696-FDA1-4C83-9232-EBE18312A0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4EA49DC3-5F8E-4886-8C3D-BF2B525747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74A1E2C5-9762-4A7A-86AC-E07839D97B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A30CC370-34F3-47BF-AD8A-2C5D76EA6F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1">
            <a:extLst xmlns:a="http://schemas.openxmlformats.org/drawingml/2006/main">
              <a:ext uri="{FF2B5EF4-FFF2-40B4-BE49-F238E27FC236}">
                <a16:creationId xmlns:a16="http://schemas.microsoft.com/office/drawing/2014/main" id="{1C5731FD-CCC6-43BC-9F97-1DFEF4139B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CF435AD2-561B-4118-8EF2-2C3442585A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9FF7F83F-B044-4F9A-A0B4-3063C7132F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5E2ED562-0076-4088-8C4A-9A8FA3B3CD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66551907-1660-4481-B2A3-2A14242A12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2">
            <a:extLst xmlns:a="http://schemas.openxmlformats.org/drawingml/2006/main">
              <a:ext uri="{FF2B5EF4-FFF2-40B4-BE49-F238E27FC236}">
                <a16:creationId xmlns:a16="http://schemas.microsoft.com/office/drawing/2014/main" id="{ED47A4C9-E08C-4157-A0BA-84F028D735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2">
            <a:extLst xmlns:a="http://schemas.openxmlformats.org/drawingml/2006/main">
              <a:ext uri="{FF2B5EF4-FFF2-40B4-BE49-F238E27FC236}">
                <a16:creationId xmlns:a16="http://schemas.microsoft.com/office/drawing/2014/main" id="{AAAB0EC7-403F-4070-B15C-B1EEAE0974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201DD001-9380-40D5-9C0E-AC592B68F8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B752F274-BE79-4EEE-82F2-D11A4CA316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6FD4AEC9-395B-4B25-87F2-1FD3B8271C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8650e3cf2f4fd5" /><Relationship Type="http://schemas.openxmlformats.org/officeDocument/2006/relationships/slideLayout" Target="/ppt/slideLayouts/slideLayout1.xml" Id="R1dbf8a47a25b4911" /><Relationship Type="http://schemas.openxmlformats.org/officeDocument/2006/relationships/slideLayout" Target="/ppt/slideLayouts/slideLayout2.xml" Id="R95cee3c2ef85412f" /><Relationship Type="http://schemas.openxmlformats.org/officeDocument/2006/relationships/slideLayout" Target="/ppt/slideLayouts/slideLayout3.xml" Id="R809a3aee5ebc4900" /><Relationship Type="http://schemas.openxmlformats.org/officeDocument/2006/relationships/slideLayout" Target="/ppt/slideLayouts/slideLayout4.xml" Id="R6921d1bd22a849a0" /><Relationship Type="http://schemas.openxmlformats.org/officeDocument/2006/relationships/slideLayout" Target="/ppt/slideLayouts/slideLayout5.xml" Id="Rb69c9d833dbb4a81" /><Relationship Type="http://schemas.openxmlformats.org/officeDocument/2006/relationships/slideLayout" Target="/ppt/slideLayouts/slideLayout6.xml" Id="R82cfb504473149bc" /><Relationship Type="http://schemas.openxmlformats.org/officeDocument/2006/relationships/slideLayout" Target="/ppt/slideLayouts/slideLayout7.xml" Id="R375d7bcdb3d54e67" /><Relationship Type="http://schemas.openxmlformats.org/officeDocument/2006/relationships/slideLayout" Target="/ppt/slideLayouts/slideLayout8.xml" Id="R57dcc3c2f85949d5" /><Relationship Type="http://schemas.openxmlformats.org/officeDocument/2006/relationships/slideLayout" Target="/ppt/slideLayouts/slideLayout9.xml" Id="R729074c790204cee" /><Relationship Type="http://schemas.openxmlformats.org/officeDocument/2006/relationships/slideLayout" Target="/ppt/slideLayouts/slideLayout10.xml" Id="Ra3a72865392b4ce3" /><Relationship Type="http://schemas.openxmlformats.org/officeDocument/2006/relationships/slideLayout" Target="/ppt/slideLayouts/slideLayout11.xml" Id="R532b56f2207d479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31d8c96f16c4dde" /><Relationship Type="http://schemas.openxmlformats.org/officeDocument/2006/relationships/slideLayout" Target="/ppt/slideLayouts/slideLayout12.xml" Id="R33362ea9757f469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2E269145-6D8F-48DE-AF6D-481491DA7F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260580D0-7788-4695-953E-1144181CB4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9D8B2D83-F90B-41A3-BEBB-8D00EFD36C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6952DE13-A768-4D92-A70B-D4E0C81DB7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E1CFDEA0-A419-4DE2-B065-08550FFEFA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bf8a47a25b4911"/>
    <p:sldLayoutId xmlns:r="http://schemas.openxmlformats.org/officeDocument/2006/relationships" id="2147483650" r:id="R95cee3c2ef85412f"/>
    <p:sldLayoutId xmlns:r="http://schemas.openxmlformats.org/officeDocument/2006/relationships" id="2147483651" r:id="R809a3aee5ebc4900"/>
    <p:sldLayoutId xmlns:r="http://schemas.openxmlformats.org/officeDocument/2006/relationships" id="2147483652" r:id="R6921d1bd22a849a0"/>
    <p:sldLayoutId xmlns:r="http://schemas.openxmlformats.org/officeDocument/2006/relationships" id="2147483653" r:id="Rb69c9d833dbb4a81"/>
    <p:sldLayoutId xmlns:r="http://schemas.openxmlformats.org/officeDocument/2006/relationships" id="2147483654" r:id="R82cfb504473149bc"/>
    <p:sldLayoutId xmlns:r="http://schemas.openxmlformats.org/officeDocument/2006/relationships" id="2147483655" r:id="R375d7bcdb3d54e67"/>
    <p:sldLayoutId xmlns:r="http://schemas.openxmlformats.org/officeDocument/2006/relationships" id="2147483656" r:id="R57dcc3c2f85949d5"/>
    <p:sldLayoutId xmlns:r="http://schemas.openxmlformats.org/officeDocument/2006/relationships" id="2147483657" r:id="R729074c790204cee"/>
    <p:sldLayoutId xmlns:r="http://schemas.openxmlformats.org/officeDocument/2006/relationships" id="2147483658" r:id="Ra3a72865392b4ce3"/>
    <p:sldLayoutId xmlns:r="http://schemas.openxmlformats.org/officeDocument/2006/relationships" id="2147483659" r:id="R532b56f2207d479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3362ea9757f469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cedeea5bd9d451f" /><Relationship Type="http://schemas.openxmlformats.org/officeDocument/2006/relationships/image" Target="/ppt/media/image.png" Id="R5cf54cdec1434f7d" /><Relationship Type="http://schemas.openxmlformats.org/officeDocument/2006/relationships/notesSlide" Target="/ppt/notesSlides/notesSlide1.xml" Id="R7e9847f8a5ab4c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8eb9b2b36fa40e8" /><Relationship Type="http://schemas.openxmlformats.org/officeDocument/2006/relationships/image" Target="/ppt/media/image2.png" Id="R40fcc89751474111" /><Relationship Type="http://schemas.openxmlformats.org/officeDocument/2006/relationships/image" Target="/ppt/media/image.png" Id="R6d59f33f6b284a87" /><Relationship Type="http://schemas.openxmlformats.org/officeDocument/2006/relationships/image" Target="/ppt/media/image3.png" Id="R8b5189c9ae654b6b" /><Relationship Type="http://schemas.openxmlformats.org/officeDocument/2006/relationships/image" Target="/ppt/media/image4.png" Id="R26b18b9409184085" /><Relationship Type="http://schemas.openxmlformats.org/officeDocument/2006/relationships/image" Target="/ppt/media/image5.png" Id="R7e056ef1126e402e" /><Relationship Type="http://schemas.openxmlformats.org/officeDocument/2006/relationships/image" Target="/ppt/media/image6.png" Id="R671c8646bcac40e0" /><Relationship Type="http://schemas.openxmlformats.org/officeDocument/2006/relationships/image" Target="/ppt/media/image7.png" Id="Ra62fdf060a4e4e0f" /><Relationship Type="http://schemas.openxmlformats.org/officeDocument/2006/relationships/image" Target="/ppt/media/image8.png" Id="R5d9719d644e34705" /><Relationship Type="http://schemas.openxmlformats.org/officeDocument/2006/relationships/notesSlide" Target="/ppt/notesSlides/notesSlide2.xml" Id="R797846a2b3f348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835c14569d4278" /><Relationship Type="http://schemas.openxmlformats.org/officeDocument/2006/relationships/image" Target="/ppt/media/image9.png" Id="R2a9d9814573448e0" /><Relationship Type="http://schemas.openxmlformats.org/officeDocument/2006/relationships/image" Target="/ppt/media/image10.png" Id="R7e7665569f354110" /><Relationship Type="http://schemas.openxmlformats.org/officeDocument/2006/relationships/image" Target="/ppt/media/image11.png" Id="Rd5e2e1ded90441d1" /><Relationship Type="http://schemas.openxmlformats.org/officeDocument/2006/relationships/image" Target="/ppt/media/image12.png" Id="R19e26efcc7174597" /><Relationship Type="http://schemas.openxmlformats.org/officeDocument/2006/relationships/notesSlide" Target="/ppt/notesSlides/notesSlide3.xml" Id="Rad574716ea5548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19c6038632b452f" /><Relationship Type="http://schemas.openxmlformats.org/officeDocument/2006/relationships/image" Target="/ppt/media/image13.png" Id="R7cf5826cec34425e" /><Relationship Type="http://schemas.openxmlformats.org/officeDocument/2006/relationships/image" Target="/ppt/media/image14.png" Id="Rdfade9b22b9a488c" /><Relationship Type="http://schemas.openxmlformats.org/officeDocument/2006/relationships/image" Target="/ppt/media/image12.png" Id="R6bd1a550569e4a91" /><Relationship Type="http://schemas.openxmlformats.org/officeDocument/2006/relationships/image" Target="/ppt/media/image15.png" Id="R07ad3fbba9b54dce" /><Relationship Type="http://schemas.openxmlformats.org/officeDocument/2006/relationships/notesSlide" Target="/ppt/notesSlides/notesSlide4.xml" Id="R4ec40b23651a49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1e5c3ee395e412f" /><Relationship Type="http://schemas.openxmlformats.org/officeDocument/2006/relationships/image" Target="/ppt/media/image16.png" Id="R87b8ff1e2be6408c" /><Relationship Type="http://schemas.openxmlformats.org/officeDocument/2006/relationships/image" Target="/ppt/media/image3.png" Id="R66ae1e11e51745d4" /><Relationship Type="http://schemas.openxmlformats.org/officeDocument/2006/relationships/image" Target="/ppt/media/image12.png" Id="Rd0fa73d8a85b40ef" /><Relationship Type="http://schemas.openxmlformats.org/officeDocument/2006/relationships/notesSlide" Target="/ppt/notesSlides/notesSlide5.xml" Id="R645dc3d1170b46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327df4ccc604ee0" /><Relationship Type="http://schemas.openxmlformats.org/officeDocument/2006/relationships/image" Target="/ppt/media/image17.png" Id="R132526e3a83c4a24" /><Relationship Type="http://schemas.openxmlformats.org/officeDocument/2006/relationships/image" Target="/ppt/media/image13.png" Id="R4f8b5fe0e17549b7" /><Relationship Type="http://schemas.openxmlformats.org/officeDocument/2006/relationships/image" Target="/ppt/media/image18.png" Id="R219ea1015a244ed4" /><Relationship Type="http://schemas.openxmlformats.org/officeDocument/2006/relationships/image" Target="/ppt/media/image9.png" Id="R1bb94c6bf0884f77" /><Relationship Type="http://schemas.openxmlformats.org/officeDocument/2006/relationships/image" Target="/ppt/media/image11.png" Id="R1acecbbe28e947ab" /><Relationship Type="http://schemas.openxmlformats.org/officeDocument/2006/relationships/image" Target="/ppt/media/image19.png" Id="Rdf8eb00164ca44da" /><Relationship Type="http://schemas.openxmlformats.org/officeDocument/2006/relationships/notesSlide" Target="/ppt/notesSlides/notesSlide6.xml" Id="R949f98761a294d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308ab4adb794903" /><Relationship Type="http://schemas.openxmlformats.org/officeDocument/2006/relationships/image" Target="/ppt/media/image13.png" Id="R644c2b300e084313" /><Relationship Type="http://schemas.openxmlformats.org/officeDocument/2006/relationships/image" Target="/ppt/media/image20.png" Id="R6c6cee9b23bc416b" /><Relationship Type="http://schemas.openxmlformats.org/officeDocument/2006/relationships/notesSlide" Target="/ppt/notesSlides/notesSlide7.xml" Id="Rcdcc853fc9704a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59676c338d74c8a" /><Relationship Type="http://schemas.openxmlformats.org/officeDocument/2006/relationships/image" Target="/ppt/media/image18.png" Id="R88ca765179f44176" /><Relationship Type="http://schemas.openxmlformats.org/officeDocument/2006/relationships/image" Target="/ppt/media/image20.png" Id="R880355f4f0f04dd1" /><Relationship Type="http://schemas.openxmlformats.org/officeDocument/2006/relationships/notesSlide" Target="/ppt/notesSlides/notesSlide8.xml" Id="R2d63bdf89bcb43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3a6fe3afb774459" /><Relationship Type="http://schemas.openxmlformats.org/officeDocument/2006/relationships/image" Target="/ppt/media/image9.png" Id="R64434e72c53d4502" /><Relationship Type="http://schemas.openxmlformats.org/officeDocument/2006/relationships/image" Target="/ppt/media/image20.png" Id="R0a1488c28a5a482c" /><Relationship Type="http://schemas.openxmlformats.org/officeDocument/2006/relationships/notesSlide" Target="/ppt/notesSlides/notesSlide9.xml" Id="R62dd22121f144b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ee9e413fdb84e9b" /><Relationship Type="http://schemas.openxmlformats.org/officeDocument/2006/relationships/image" Target="/ppt/media/image11.png" Id="R075ece1f050a4d58" /><Relationship Type="http://schemas.openxmlformats.org/officeDocument/2006/relationships/image" Target="/ppt/media/image20.png" Id="R7df038eb552645a6" /><Relationship Type="http://schemas.openxmlformats.org/officeDocument/2006/relationships/notesSlide" Target="/ppt/notesSlides/notesSlide10.xml" Id="Rd8171ae2ef7143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5eae3123a94415e" /><Relationship Type="http://schemas.openxmlformats.org/officeDocument/2006/relationships/image" Target="/ppt/media/image6.png" Id="Rc29b2d027d9f4f22" /><Relationship Type="http://schemas.openxmlformats.org/officeDocument/2006/relationships/image" Target="/ppt/media/image21.png" Id="R2ceef809540a41e5" /><Relationship Type="http://schemas.openxmlformats.org/officeDocument/2006/relationships/image" Target="/ppt/media/image12.png" Id="R3c1f08e96a2e401d" /><Relationship Type="http://schemas.openxmlformats.org/officeDocument/2006/relationships/notesSlide" Target="/ppt/notesSlides/notesSlide11.xml" Id="R41047422397b4e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f84264a81094bca" /><Relationship Type="http://schemas.openxmlformats.org/officeDocument/2006/relationships/image" Target="/ppt/media/image7.png" Id="Rae3c0d1c5b2b4000" /><Relationship Type="http://schemas.openxmlformats.org/officeDocument/2006/relationships/image" Target="/ppt/media/image15.png" Id="R4ce858ac25804d6e" /><Relationship Type="http://schemas.openxmlformats.org/officeDocument/2006/relationships/image" Target="/ppt/media/image22.png" Id="R95cf338cba8f49a4" /><Relationship Type="http://schemas.openxmlformats.org/officeDocument/2006/relationships/notesSlide" Target="/ppt/notesSlides/notesSlide12.xml" Id="Rd84c0b3c79204f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bf7d4620fb14f60" /><Relationship Type="http://schemas.openxmlformats.org/officeDocument/2006/relationships/notesSlide" Target="/ppt/notesSlides/notesSlide13.xml" Id="R1bcf484fcb6f4e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4a955e7c4aa44c4" /><Relationship Type="http://schemas.openxmlformats.org/officeDocument/2006/relationships/notesSlide" Target="/ppt/notesSlides/notesSlide14.xml" Id="Re085005724d245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92156d52c2342ce" /><Relationship Type="http://schemas.openxmlformats.org/officeDocument/2006/relationships/notesSlide" Target="/ppt/notesSlides/notesSlide15.xml" Id="R6b98b0fca24a4d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5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15">
            <a:extLst xmlns:a="http://schemas.openxmlformats.org/drawingml/2006/main">
              <a:ext uri="{FF2B5EF4-FFF2-40B4-BE49-F238E27FC236}">
                <a16:creationId xmlns:a16="http://schemas.microsoft.com/office/drawing/2014/main" id="{004EE600-C1BC-4D2F-BE15-F317E1C6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1188720"/>
            <a:ext cx="3840480" cy="384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C57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>
            <a:extLst xmlns:a="http://schemas.openxmlformats.org/drawingml/2006/main">
              <a:ext uri="{FF2B5EF4-FFF2-40B4-BE49-F238E27FC236}">
                <a16:creationId xmlns:a16="http://schemas.microsoft.com/office/drawing/2014/main" id="{D905FE67-235F-41AA-A2A4-167C4368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80160" y="493776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C57">
              <a:alpha val="21961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>
            <a:extLst xmlns:a="http://schemas.openxmlformats.org/drawingml/2006/main">
              <a:ext uri="{FF2B5EF4-FFF2-40B4-BE49-F238E27FC236}">
                <a16:creationId xmlns:a16="http://schemas.microsoft.com/office/drawing/2014/main" id="{0CABEE94-232D-4A7B-851E-7A9E5D4D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444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C5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9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f54cdec1434f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4575" y="1356055"/>
            <a:ext cx="625450" cy="625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1" name="Google Shape;91;p15">
            <a:extLst xmlns:a="http://schemas.openxmlformats.org/drawingml/2006/main">
              <a:ext uri="{FF2B5EF4-FFF2-40B4-BE49-F238E27FC236}">
                <a16:creationId xmlns:a16="http://schemas.microsoft.com/office/drawing/2014/main" id="{53BF866E-CE24-4518-A351-A8034A34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7DCB8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C7DCB8"/>
                </a:solidFill>
                <a:latin typeface="Calibri"/>
                <a:ea typeface="Calibri"/>
                <a:cs typeface="Calibri"/>
              </a:rPr>
              <a:t>BMIT2123 INTERNET OF THINGS  |  PART I SYSTEM PROTOTYPE PROPOSAL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15">
            <a:extLst xmlns:a="http://schemas.openxmlformats.org/drawingml/2006/main">
              <a:ext uri="{FF2B5EF4-FFF2-40B4-BE49-F238E27FC236}">
                <a16:creationId xmlns:a16="http://schemas.microsoft.com/office/drawing/2014/main" id="{CB4BBCD2-ED90-4F3E-9448-95723B8C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97480"/>
            <a:ext cx="91440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sz="54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AgriSense</a:t>
            </a:r>
            <a:endParaRPr sz="5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15">
            <a:extLst xmlns:a="http://schemas.openxmlformats.org/drawingml/2006/main">
              <a:ext uri="{FF2B5EF4-FFF2-40B4-BE49-F238E27FC236}">
                <a16:creationId xmlns:a16="http://schemas.microsoft.com/office/drawing/2014/main" id="{D63612E4-5941-49DC-BF1D-2BF2F07E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10515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3EEDA"/>
              </a:buClr>
              <a:buSzPts val="1900"/>
              <a:buFont typeface="Calibri"/>
              <a:buNone/>
            </a:pPr>
            <a:r>
              <a:rPr sz="1900" b="0" i="1" u="none" cap="none">
                <a:solidFill>
                  <a:srgbClr val="E3EEDA"/>
                </a:solidFill>
                <a:latin typeface="Calibri"/>
                <a:ea typeface="Calibri"/>
                <a:cs typeface="Calibri"/>
              </a:rPr>
              <a:t>A Precision Farming System for Outdoor Canopy Plantations</a:t>
            </a:r>
            <a:endParaRPr sz="1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15">
            <a:extLst xmlns:a="http://schemas.openxmlformats.org/drawingml/2006/main">
              <a:ext uri="{FF2B5EF4-FFF2-40B4-BE49-F238E27FC236}">
                <a16:creationId xmlns:a16="http://schemas.microsoft.com/office/drawing/2014/main" id="{6726D9B5-DEEE-4205-817E-1A364911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916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Group Members:  </a:t>
            </a: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Foo Tun Wei(Leader) · Kueh Jian Wei · Heng Jing Le · Tey Ying Heng</a:t>
            </a:r>
            <a:endParaRPr sz="15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5">
            <a:extLst xmlns:a="http://schemas.openxmlformats.org/drawingml/2006/main">
              <a:ext uri="{FF2B5EF4-FFF2-40B4-BE49-F238E27FC236}">
                <a16:creationId xmlns:a16="http://schemas.microsoft.com/office/drawing/2014/main" id="{BC46E22A-C294-448B-8A18-10ED2626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Programme &amp; Group: </a:t>
            </a:r>
            <a:r>
              <a:rPr sz="150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RSD2S3 G3</a:t>
            </a:r>
            <a:endParaRPr sz="1500" b="1">
              <a:solidFill>
                <a:srgbClr val="C98A2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15">
            <a:extLst xmlns:a="http://schemas.openxmlformats.org/drawingml/2006/main">
              <a:ext uri="{FF2B5EF4-FFF2-40B4-BE49-F238E27FC236}">
                <a16:creationId xmlns:a16="http://schemas.microsoft.com/office/drawing/2014/main" id="{E97A5577-73F1-49DA-B784-7CFC0D8B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29089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6">
            <a:extLst xmlns:a="http://schemas.openxmlformats.org/drawingml/2006/main">
              <a:ext uri="{FF2B5EF4-FFF2-40B4-BE49-F238E27FC236}">
                <a16:creationId xmlns:a16="http://schemas.microsoft.com/office/drawing/2014/main" id="{765EC4D7-EDFB-441D-8474-AF1D2E7C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OVERVIEW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16">
            <a:extLst xmlns:a="http://schemas.openxmlformats.org/drawingml/2006/main">
              <a:ext uri="{FF2B5EF4-FFF2-40B4-BE49-F238E27FC236}">
                <a16:creationId xmlns:a16="http://schemas.microsoft.com/office/drawing/2014/main" id="{A84AC0CD-4FCE-4DAF-BC5A-30FBE364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Agenda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16">
            <a:extLst xmlns:a="http://schemas.openxmlformats.org/drawingml/2006/main">
              <a:ext uri="{FF2B5EF4-FFF2-40B4-BE49-F238E27FC236}">
                <a16:creationId xmlns:a16="http://schemas.microsoft.com/office/drawing/2014/main" id="{5F4CFB2F-FC80-4B43-A262-A0BEC1A6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50749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>
            <a:extLst xmlns:a="http://schemas.openxmlformats.org/drawingml/2006/main">
              <a:ext uri="{FF2B5EF4-FFF2-40B4-BE49-F238E27FC236}">
                <a16:creationId xmlns:a16="http://schemas.microsoft.com/office/drawing/2014/main" id="{EF941D00-B15B-4032-B615-50A80DB8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105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0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0fcc8975147411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9808" y="1655064"/>
            <a:ext cx="329184" cy="3291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7" name="Google Shape;107;p16">
            <a:extLst xmlns:a="http://schemas.openxmlformats.org/drawingml/2006/main">
              <a:ext uri="{FF2B5EF4-FFF2-40B4-BE49-F238E27FC236}">
                <a16:creationId xmlns:a16="http://schemas.microsoft.com/office/drawing/2014/main" id="{9AA30E8D-A432-4D98-9FD8-75082F72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5910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2000"/>
              <a:buFont typeface="Cambria"/>
              <a:buNone/>
            </a:pPr>
            <a:r>
              <a:rPr sz="2000" b="1" i="0" u="none" cap="none">
                <a:solidFill>
                  <a:srgbClr val="C98A2C"/>
                </a:solidFill>
                <a:latin typeface="Cambria"/>
                <a:ea typeface="Cambria"/>
                <a:cs typeface="Cambria"/>
              </a:rPr>
              <a:t>01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16">
            <a:extLst xmlns:a="http://schemas.openxmlformats.org/drawingml/2006/main">
              <a:ext uri="{FF2B5EF4-FFF2-40B4-BE49-F238E27FC236}">
                <a16:creationId xmlns:a16="http://schemas.microsoft.com/office/drawing/2014/main" id="{34ED5C6F-B8A0-4843-A1B4-581F7E11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554480"/>
            <a:ext cx="379476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Background &amp; Problem Statement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16">
            <a:extLst xmlns:a="http://schemas.openxmlformats.org/drawingml/2006/main">
              <a:ext uri="{FF2B5EF4-FFF2-40B4-BE49-F238E27FC236}">
                <a16:creationId xmlns:a16="http://schemas.microsoft.com/office/drawing/2014/main" id="{03552A05-D664-4C6E-B843-3161BF9B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2848"/>
            <a:ext cx="50749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BBFE6BE3-B9B8-4981-B530-AD0CF1AC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942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1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59f33f6b284a8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9808" y="2313432"/>
            <a:ext cx="329184" cy="3291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11458034-11A7-4C36-AE5F-F97587E3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24942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2000"/>
              <a:buFont typeface="Cambria"/>
              <a:buNone/>
            </a:pPr>
            <a:r>
              <a:rPr sz="2000" b="1" i="0" u="none" cap="none">
                <a:solidFill>
                  <a:srgbClr val="C98A2C"/>
                </a:solidFill>
                <a:latin typeface="Cambria"/>
                <a:ea typeface="Cambria"/>
                <a:cs typeface="Cambria"/>
              </a:rPr>
              <a:t>02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D440DD2B-B326-4E51-8E14-9D802148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212848"/>
            <a:ext cx="379476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System Overview &amp; Objectives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D523E4A6-46D0-48B6-9F00-77CDBBC8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71216"/>
            <a:ext cx="50749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9389CF04-47C7-41B6-A053-C5CFE6B7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77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5189c9ae654b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9808" y="2971800"/>
            <a:ext cx="329184" cy="3291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7" name="Google Shape;117;p16">
            <a:extLst xmlns:a="http://schemas.openxmlformats.org/drawingml/2006/main">
              <a:ext uri="{FF2B5EF4-FFF2-40B4-BE49-F238E27FC236}">
                <a16:creationId xmlns:a16="http://schemas.microsoft.com/office/drawing/2014/main" id="{7C598B94-CD34-4101-AEA0-674809EF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907792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2000"/>
              <a:buFont typeface="Cambria"/>
              <a:buNone/>
            </a:pPr>
            <a:r>
              <a:rPr sz="2000" b="1" i="0" u="none" cap="none">
                <a:solidFill>
                  <a:srgbClr val="C98A2C"/>
                </a:solidFill>
                <a:latin typeface="Cambria"/>
                <a:ea typeface="Cambria"/>
                <a:cs typeface="Cambria"/>
              </a:rPr>
              <a:t>03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16">
            <a:extLst xmlns:a="http://schemas.openxmlformats.org/drawingml/2006/main">
              <a:ext uri="{FF2B5EF4-FFF2-40B4-BE49-F238E27FC236}">
                <a16:creationId xmlns:a16="http://schemas.microsoft.com/office/drawing/2014/main" id="{03A3D6FF-6667-4781-B51E-EACF9370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871216"/>
            <a:ext cx="379476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Targeted Users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16">
            <a:extLst xmlns:a="http://schemas.openxmlformats.org/drawingml/2006/main">
              <a:ext uri="{FF2B5EF4-FFF2-40B4-BE49-F238E27FC236}">
                <a16:creationId xmlns:a16="http://schemas.microsoft.com/office/drawing/2014/main" id="{4CC69B75-2077-4197-9A3F-6A7A0554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9584"/>
            <a:ext cx="50749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>
            <a:extLst xmlns:a="http://schemas.openxmlformats.org/drawingml/2006/main">
              <a:ext uri="{FF2B5EF4-FFF2-40B4-BE49-F238E27FC236}">
                <a16:creationId xmlns:a16="http://schemas.microsoft.com/office/drawing/2014/main" id="{F9954BFC-A038-414C-B196-7DB2ADF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61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2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b18b940918408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9808" y="3630168"/>
            <a:ext cx="329184" cy="3291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2" name="Google Shape;122;p16">
            <a:extLst xmlns:a="http://schemas.openxmlformats.org/drawingml/2006/main">
              <a:ext uri="{FF2B5EF4-FFF2-40B4-BE49-F238E27FC236}">
                <a16:creationId xmlns:a16="http://schemas.microsoft.com/office/drawing/2014/main" id="{48A7BC25-D967-4652-8E39-7F49C287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6616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2000"/>
              <a:buFont typeface="Cambria"/>
              <a:buNone/>
            </a:pPr>
            <a:r>
              <a:rPr sz="2000" b="1" i="0" u="none" cap="none">
                <a:solidFill>
                  <a:srgbClr val="C98A2C"/>
                </a:solidFill>
                <a:latin typeface="Cambria"/>
                <a:ea typeface="Cambria"/>
                <a:cs typeface="Cambria"/>
              </a:rPr>
              <a:t>04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16">
            <a:extLst xmlns:a="http://schemas.openxmlformats.org/drawingml/2006/main">
              <a:ext uri="{FF2B5EF4-FFF2-40B4-BE49-F238E27FC236}">
                <a16:creationId xmlns:a16="http://schemas.microsoft.com/office/drawing/2014/main" id="{C9DF3E21-C574-46B0-84B6-9381526C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529584"/>
            <a:ext cx="379476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System Architecture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16">
            <a:extLst xmlns:a="http://schemas.openxmlformats.org/drawingml/2006/main">
              <a:ext uri="{FF2B5EF4-FFF2-40B4-BE49-F238E27FC236}">
                <a16:creationId xmlns:a16="http://schemas.microsoft.com/office/drawing/2014/main" id="{980057E2-96CA-4E48-A59D-BA9857DC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554480"/>
            <a:ext cx="50749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>
            <a:extLst xmlns:a="http://schemas.openxmlformats.org/drawingml/2006/main">
              <a:ext uri="{FF2B5EF4-FFF2-40B4-BE49-F238E27FC236}">
                <a16:creationId xmlns:a16="http://schemas.microsoft.com/office/drawing/2014/main" id="{E98C175D-5474-491E-B875-97B6C5A9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9105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2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056ef1126e40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81928" y="1655064"/>
            <a:ext cx="329184" cy="3291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7" name="Google Shape;127;p16">
            <a:extLst xmlns:a="http://schemas.openxmlformats.org/drawingml/2006/main">
              <a:ext uri="{FF2B5EF4-FFF2-40B4-BE49-F238E27FC236}">
                <a16:creationId xmlns:a16="http://schemas.microsoft.com/office/drawing/2014/main" id="{CE32D485-CD21-4582-AE21-9FC8E340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5910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2000"/>
              <a:buFont typeface="Cambria"/>
              <a:buNone/>
            </a:pPr>
            <a:r>
              <a:rPr sz="2000" b="1" i="0" u="none" cap="none">
                <a:solidFill>
                  <a:srgbClr val="C98A2C"/>
                </a:solidFill>
                <a:latin typeface="Cambria"/>
                <a:ea typeface="Cambria"/>
                <a:cs typeface="Cambria"/>
              </a:rPr>
              <a:t>05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16">
            <a:extLst xmlns:a="http://schemas.openxmlformats.org/drawingml/2006/main">
              <a:ext uri="{FF2B5EF4-FFF2-40B4-BE49-F238E27FC236}">
                <a16:creationId xmlns:a16="http://schemas.microsoft.com/office/drawing/2014/main" id="{D10E8A83-2613-4CF7-91D0-47E4BB8A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554480"/>
            <a:ext cx="379476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Functional Modules 1–4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Google Shape;129;p16">
            <a:extLst xmlns:a="http://schemas.openxmlformats.org/drawingml/2006/main">
              <a:ext uri="{FF2B5EF4-FFF2-40B4-BE49-F238E27FC236}">
                <a16:creationId xmlns:a16="http://schemas.microsoft.com/office/drawing/2014/main" id="{0A65F334-550F-4758-8977-A8677B46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212848"/>
            <a:ext cx="50749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>
            <a:extLst xmlns:a="http://schemas.openxmlformats.org/drawingml/2006/main">
              <a:ext uri="{FF2B5EF4-FFF2-40B4-BE49-F238E27FC236}">
                <a16:creationId xmlns:a16="http://schemas.microsoft.com/office/drawing/2014/main" id="{23C04120-F43E-4373-951B-642DE179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4942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3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1c8646bcac40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81928" y="2313432"/>
            <a:ext cx="329184" cy="3291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2" name="Google Shape;132;p16">
            <a:extLst xmlns:a="http://schemas.openxmlformats.org/drawingml/2006/main">
              <a:ext uri="{FF2B5EF4-FFF2-40B4-BE49-F238E27FC236}">
                <a16:creationId xmlns:a16="http://schemas.microsoft.com/office/drawing/2014/main" id="{AE355D57-3B2E-4215-9B00-A5C0D56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24942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2000"/>
              <a:buFont typeface="Cambria"/>
              <a:buNone/>
            </a:pPr>
            <a:r>
              <a:rPr sz="2000" b="1" i="0" u="none" cap="none">
                <a:solidFill>
                  <a:srgbClr val="C98A2C"/>
                </a:solidFill>
                <a:latin typeface="Cambria"/>
                <a:ea typeface="Cambria"/>
                <a:cs typeface="Cambria"/>
              </a:rPr>
              <a:t>06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3" name="Google Shape;133;p16">
            <a:extLst xmlns:a="http://schemas.openxmlformats.org/drawingml/2006/main">
              <a:ext uri="{FF2B5EF4-FFF2-40B4-BE49-F238E27FC236}">
                <a16:creationId xmlns:a16="http://schemas.microsoft.com/office/drawing/2014/main" id="{4D19F5B8-C4E4-4C38-BF36-42FC24A0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12848"/>
            <a:ext cx="379476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Cross-Module Design Standards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4" name="Google Shape;134;p16">
            <a:extLst xmlns:a="http://schemas.openxmlformats.org/drawingml/2006/main">
              <a:ext uri="{FF2B5EF4-FFF2-40B4-BE49-F238E27FC236}">
                <a16:creationId xmlns:a16="http://schemas.microsoft.com/office/drawing/2014/main" id="{0CBF85D0-DD1B-4834-B760-5B4FE925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871216"/>
            <a:ext cx="50749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>
            <a:extLst xmlns:a="http://schemas.openxmlformats.org/drawingml/2006/main">
              <a:ext uri="{FF2B5EF4-FFF2-40B4-BE49-F238E27FC236}">
                <a16:creationId xmlns:a16="http://schemas.microsoft.com/office/drawing/2014/main" id="{FF7643D8-B0C9-4F93-BAC9-DA175167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9077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3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2fdf060a4e4e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81928" y="2971800"/>
            <a:ext cx="329184" cy="3291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7" name="Google Shape;137;p16">
            <a:extLst xmlns:a="http://schemas.openxmlformats.org/drawingml/2006/main">
              <a:ext uri="{FF2B5EF4-FFF2-40B4-BE49-F238E27FC236}">
                <a16:creationId xmlns:a16="http://schemas.microsoft.com/office/drawing/2014/main" id="{3764492F-CE6D-4CC1-8A5C-E67A248B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907792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2000"/>
              <a:buFont typeface="Cambria"/>
              <a:buNone/>
            </a:pPr>
            <a:r>
              <a:rPr sz="2000" b="1" i="0" u="none" cap="none">
                <a:solidFill>
                  <a:srgbClr val="C98A2C"/>
                </a:solidFill>
                <a:latin typeface="Cambria"/>
                <a:ea typeface="Cambria"/>
                <a:cs typeface="Cambria"/>
              </a:rPr>
              <a:t>07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Google Shape;138;p16">
            <a:extLst xmlns:a="http://schemas.openxmlformats.org/drawingml/2006/main">
              <a:ext uri="{FF2B5EF4-FFF2-40B4-BE49-F238E27FC236}">
                <a16:creationId xmlns:a16="http://schemas.microsoft.com/office/drawing/2014/main" id="{0AB88E14-F44C-4EC2-BFF7-F0C7FC1B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871216"/>
            <a:ext cx="379476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Data Contract, Plant Profile &amp; Override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" name="Google Shape;139;p16">
            <a:extLst xmlns:a="http://schemas.openxmlformats.org/drawingml/2006/main">
              <a:ext uri="{FF2B5EF4-FFF2-40B4-BE49-F238E27FC236}">
                <a16:creationId xmlns:a16="http://schemas.microsoft.com/office/drawing/2014/main" id="{42842F55-F937-4796-953D-FF58B30B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529584"/>
            <a:ext cx="50749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">
            <a:extLst xmlns:a="http://schemas.openxmlformats.org/drawingml/2006/main">
              <a:ext uri="{FF2B5EF4-FFF2-40B4-BE49-F238E27FC236}">
                <a16:creationId xmlns:a16="http://schemas.microsoft.com/office/drawing/2014/main" id="{4BDA5624-566A-41BB-9C24-91B0FCBB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661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4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9719d644e347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81928" y="3630168"/>
            <a:ext cx="329184" cy="3291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16">
            <a:extLst xmlns:a="http://schemas.openxmlformats.org/drawingml/2006/main">
              <a:ext uri="{FF2B5EF4-FFF2-40B4-BE49-F238E27FC236}">
                <a16:creationId xmlns:a16="http://schemas.microsoft.com/office/drawing/2014/main" id="{2E630FC4-EC6E-4438-B286-5B069095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56616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2000"/>
              <a:buFont typeface="Cambria"/>
              <a:buNone/>
            </a:pPr>
            <a:r>
              <a:rPr sz="2000" b="1" i="0" u="none" cap="none">
                <a:solidFill>
                  <a:srgbClr val="C98A2C"/>
                </a:solidFill>
                <a:latin typeface="Cambria"/>
                <a:ea typeface="Cambria"/>
                <a:cs typeface="Cambria"/>
              </a:rPr>
              <a:t>08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16">
            <a:extLst xmlns:a="http://schemas.openxmlformats.org/drawingml/2006/main">
              <a:ext uri="{FF2B5EF4-FFF2-40B4-BE49-F238E27FC236}">
                <a16:creationId xmlns:a16="http://schemas.microsoft.com/office/drawing/2014/main" id="{BB309912-FDE2-47CC-9462-ADC96A54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529584"/>
            <a:ext cx="379476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400"/>
              <a:buFont typeface="Calibri"/>
              <a:buNone/>
            </a:pPr>
            <a:r>
              <a:rPr sz="14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Task Allocation, Priorities &amp; Timeline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p16">
            <a:extLst xmlns:a="http://schemas.openxmlformats.org/drawingml/2006/main">
              <a:ext uri="{FF2B5EF4-FFF2-40B4-BE49-F238E27FC236}">
                <a16:creationId xmlns:a16="http://schemas.microsoft.com/office/drawing/2014/main" id="{0AD96C47-2961-4DE1-9DF1-3808584E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4401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Google Shape;150;p17">
            <a:extLst xmlns:a="http://schemas.openxmlformats.org/drawingml/2006/main">
              <a:ext uri="{FF2B5EF4-FFF2-40B4-BE49-F238E27FC236}">
                <a16:creationId xmlns:a16="http://schemas.microsoft.com/office/drawing/2014/main" id="{3255AC34-8097-449D-AD97-FA5B0D86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BACKGROUND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1" name="Google Shape;151;p17">
            <a:extLst xmlns:a="http://schemas.openxmlformats.org/drawingml/2006/main">
              <a:ext uri="{FF2B5EF4-FFF2-40B4-BE49-F238E27FC236}">
                <a16:creationId xmlns:a16="http://schemas.microsoft.com/office/drawing/2014/main" id="{E40B8520-5FC9-475B-8EDA-0470A6CD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The Problem with Manual Outdoor Plantation Care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17">
            <a:extLst xmlns:a="http://schemas.openxmlformats.org/drawingml/2006/main">
              <a:ext uri="{FF2B5EF4-FFF2-40B4-BE49-F238E27FC236}">
                <a16:creationId xmlns:a16="http://schemas.microsoft.com/office/drawing/2014/main" id="{2838A7B0-0F27-4FDF-9273-5739D65E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39496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27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>
            <a:extLst xmlns:a="http://schemas.openxmlformats.org/drawingml/2006/main">
              <a:ext uri="{FF2B5EF4-FFF2-40B4-BE49-F238E27FC236}">
                <a16:creationId xmlns:a16="http://schemas.microsoft.com/office/drawing/2014/main" id="{504C5E7E-C349-4330-8A12-1BC9A131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2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54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9d9814573448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99770" y="1951330"/>
            <a:ext cx="395021" cy="3950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" name="Google Shape;155;p17">
            <a:extLst xmlns:a="http://schemas.openxmlformats.org/drawingml/2006/main">
              <a:ext uri="{FF2B5EF4-FFF2-40B4-BE49-F238E27FC236}">
                <a16:creationId xmlns:a16="http://schemas.microsoft.com/office/drawing/2014/main" id="{DAB28C4B-96A1-42FF-A1AF-9959EAF1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856232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Blind Watering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Google Shape;156;p17">
            <a:extLst xmlns:a="http://schemas.openxmlformats.org/drawingml/2006/main">
              <a:ext uri="{FF2B5EF4-FFF2-40B4-BE49-F238E27FC236}">
                <a16:creationId xmlns:a16="http://schemas.microsoft.com/office/drawing/2014/main" id="{D36A88FA-C9F0-4FB3-9219-D15E1D43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484632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Fixed-schedule irrigation ignores rain and humidity, wasting water or under-feeding crops.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7" name="Google Shape;157;p17">
            <a:extLst xmlns:a="http://schemas.openxmlformats.org/drawingml/2006/main">
              <a:ext uri="{FF2B5EF4-FFF2-40B4-BE49-F238E27FC236}">
                <a16:creationId xmlns:a16="http://schemas.microsoft.com/office/drawing/2014/main" id="{84D0494A-08C2-4FBA-B1D8-CB35AD3B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00200"/>
            <a:ext cx="539496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27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>
            <a:extLst xmlns:a="http://schemas.openxmlformats.org/drawingml/2006/main">
              <a:ext uri="{FF2B5EF4-FFF2-40B4-BE49-F238E27FC236}">
                <a16:creationId xmlns:a16="http://schemas.microsoft.com/office/drawing/2014/main" id="{A685D3E8-584C-414B-896E-96A2E018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7452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59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7665569f35411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0490" y="1951330"/>
            <a:ext cx="395021" cy="3950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0" name="Google Shape;160;p17">
            <a:extLst xmlns:a="http://schemas.openxmlformats.org/drawingml/2006/main">
              <a:ext uri="{FF2B5EF4-FFF2-40B4-BE49-F238E27FC236}">
                <a16:creationId xmlns:a16="http://schemas.microsoft.com/office/drawing/2014/main" id="{BEFEAC85-382C-4CE5-B1FD-FCD63376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56232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Weather Blind Spots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17">
            <a:extLst xmlns:a="http://schemas.openxmlformats.org/drawingml/2006/main">
              <a:ext uri="{FF2B5EF4-FFF2-40B4-BE49-F238E27FC236}">
                <a16:creationId xmlns:a16="http://schemas.microsoft.com/office/drawing/2014/main" id="{9E9C26E2-910B-4B13-9962-660A7689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468880"/>
            <a:ext cx="484632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Sudden rain can still trigger unnecessary irrigation if the system only reads soil moisture.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17">
            <a:extLst xmlns:a="http://schemas.openxmlformats.org/drawingml/2006/main">
              <a:ext uri="{FF2B5EF4-FFF2-40B4-BE49-F238E27FC236}">
                <a16:creationId xmlns:a16="http://schemas.microsoft.com/office/drawing/2014/main" id="{BB4945B3-A80C-4C40-A67E-EBEBC503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539496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27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>
            <a:extLst xmlns:a="http://schemas.openxmlformats.org/drawingml/2006/main">
              <a:ext uri="{FF2B5EF4-FFF2-40B4-BE49-F238E27FC236}">
                <a16:creationId xmlns:a16="http://schemas.microsoft.com/office/drawing/2014/main" id="{BE4286F6-C390-418F-81B2-CADEC036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64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e2e1ded90441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99770" y="4237330"/>
            <a:ext cx="395021" cy="3950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5" name="Google Shape;165;p17">
            <a:extLst xmlns:a="http://schemas.openxmlformats.org/drawingml/2006/main">
              <a:ext uri="{FF2B5EF4-FFF2-40B4-BE49-F238E27FC236}">
                <a16:creationId xmlns:a16="http://schemas.microsoft.com/office/drawing/2014/main" id="{2202417C-8CE4-4E88-9987-32CFEF8E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142232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Late Health Detection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" name="Google Shape;166;p17">
            <a:extLst xmlns:a="http://schemas.openxmlformats.org/drawingml/2006/main">
              <a:ext uri="{FF2B5EF4-FFF2-40B4-BE49-F238E27FC236}">
                <a16:creationId xmlns:a16="http://schemas.microsoft.com/office/drawing/2014/main" id="{F9CB8AEC-751D-4C2C-B22F-A72441F2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0"/>
            <a:ext cx="484632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Leaf stress or disease is usually noticed only during physical rounds, often after visible damage.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" name="Google Shape;167;p17">
            <a:extLst xmlns:a="http://schemas.openxmlformats.org/drawingml/2006/main">
              <a:ext uri="{FF2B5EF4-FFF2-40B4-BE49-F238E27FC236}">
                <a16:creationId xmlns:a16="http://schemas.microsoft.com/office/drawing/2014/main" id="{1A1CA950-0DF0-4392-A382-539F13F6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86200"/>
            <a:ext cx="539496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27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>
            <a:extLst xmlns:a="http://schemas.openxmlformats.org/drawingml/2006/main">
              <a:ext uri="{FF2B5EF4-FFF2-40B4-BE49-F238E27FC236}">
                <a16:creationId xmlns:a16="http://schemas.microsoft.com/office/drawing/2014/main" id="{152230D4-8645-4BA0-8077-63979F5F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16052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69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e26efcc71745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0490" y="4237330"/>
            <a:ext cx="395021" cy="3950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0" name="Google Shape;170;p17">
            <a:extLst xmlns:a="http://schemas.openxmlformats.org/drawingml/2006/main">
              <a:ext uri="{FF2B5EF4-FFF2-40B4-BE49-F238E27FC236}">
                <a16:creationId xmlns:a16="http://schemas.microsoft.com/office/drawing/2014/main" id="{24B70376-8769-45E6-B6C7-99C54C50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42232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No Historical Insight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" name="Google Shape;171;p17">
            <a:extLst xmlns:a="http://schemas.openxmlformats.org/drawingml/2006/main">
              <a:ext uri="{FF2B5EF4-FFF2-40B4-BE49-F238E27FC236}">
                <a16:creationId xmlns:a16="http://schemas.microsoft.com/office/drawing/2014/main" id="{FB068331-D875-4C21-8C8A-D0449AAA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754880"/>
            <a:ext cx="484632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Without logged data, managers cannot analyse trends or plan resource use ahead of time.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2" name="Google Shape;172;p17">
            <a:extLst xmlns:a="http://schemas.openxmlformats.org/drawingml/2006/main">
              <a:ext uri="{FF2B5EF4-FFF2-40B4-BE49-F238E27FC236}">
                <a16:creationId xmlns:a16="http://schemas.microsoft.com/office/drawing/2014/main" id="{F7DF2863-403B-4A2E-A722-757E878F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29810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" name="Google Shape;178;p18">
            <a:extLst xmlns:a="http://schemas.openxmlformats.org/drawingml/2006/main">
              <a:ext uri="{FF2B5EF4-FFF2-40B4-BE49-F238E27FC236}">
                <a16:creationId xmlns:a16="http://schemas.microsoft.com/office/drawing/2014/main" id="{D5A4B518-29DD-49B1-BAF0-9FFCFA9B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(A) SYSTEM TITLE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9" name="Google Shape;179;p18">
            <a:extLst xmlns:a="http://schemas.openxmlformats.org/drawingml/2006/main">
              <a:ext uri="{FF2B5EF4-FFF2-40B4-BE49-F238E27FC236}">
                <a16:creationId xmlns:a16="http://schemas.microsoft.com/office/drawing/2014/main" id="{907516D7-81CF-4DCF-8CDA-C785B0FA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AgriSense: Precision Farming System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0" name="Google Shape;180;p18">
            <a:extLst xmlns:a="http://schemas.openxmlformats.org/drawingml/2006/main">
              <a:ext uri="{FF2B5EF4-FFF2-40B4-BE49-F238E27FC236}">
                <a16:creationId xmlns:a16="http://schemas.microsoft.com/office/drawing/2014/main" id="{444A2CBA-0014-498E-B5A1-853DB069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550"/>
              <a:buFont typeface="Calibri"/>
              <a:buNone/>
            </a:pPr>
            <a:r>
              <a:rPr sz="155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AgriSense </a:t>
            </a:r>
            <a:r>
              <a:rPr sz="155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connects ESP32 sensors and actuators with a laptop, HiveMQ, Node-RED and Supabase — combining weather-aware irrigation, climate control, low-water protection and crop-health warnings.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" name="Google Shape;181;p18">
            <a:extLst xmlns:a="http://schemas.openxmlformats.org/drawingml/2006/main">
              <a:ext uri="{FF2B5EF4-FFF2-40B4-BE49-F238E27FC236}">
                <a16:creationId xmlns:a16="http://schemas.microsoft.com/office/drawing/2014/main" id="{77738E20-38F2-4B32-AB54-A84E014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2606040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27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>
            <a:extLst xmlns:a="http://schemas.openxmlformats.org/drawingml/2006/main">
              <a:ext uri="{FF2B5EF4-FFF2-40B4-BE49-F238E27FC236}">
                <a16:creationId xmlns:a16="http://schemas.microsoft.com/office/drawing/2014/main" id="{30E4F4A1-6587-4B29-B088-69ED9536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77063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183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f5826cec3442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37690" y="2853842"/>
            <a:ext cx="427939" cy="4279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4" name="Google Shape;184;p18">
            <a:extLst xmlns:a="http://schemas.openxmlformats.org/drawingml/2006/main">
              <a:ext uri="{FF2B5EF4-FFF2-40B4-BE49-F238E27FC236}">
                <a16:creationId xmlns:a16="http://schemas.microsoft.com/office/drawing/2014/main" id="{6A532BD5-D811-40C5-9BE7-406D0804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472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Rain-Aware Irrigation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Google Shape;185;p18">
            <a:extLst xmlns:a="http://schemas.openxmlformats.org/drawingml/2006/main">
              <a:ext uri="{FF2B5EF4-FFF2-40B4-BE49-F238E27FC236}">
                <a16:creationId xmlns:a16="http://schemas.microsoft.com/office/drawing/2014/main" id="{06C733AA-6858-4580-BD33-62906D89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Use soil moisture, humidity and a weather forecast — not a hardware rain sensor.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6" name="Google Shape;186;p18">
            <a:extLst xmlns:a="http://schemas.openxmlformats.org/drawingml/2006/main">
              <a:ext uri="{FF2B5EF4-FFF2-40B4-BE49-F238E27FC236}">
                <a16:creationId xmlns:a16="http://schemas.microsoft.com/office/drawing/2014/main" id="{CAD210DB-6318-4E44-A490-73D177C3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514600"/>
            <a:ext cx="2606040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27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>
            <a:extLst xmlns:a="http://schemas.openxmlformats.org/drawingml/2006/main">
              <a:ext uri="{FF2B5EF4-FFF2-40B4-BE49-F238E27FC236}">
                <a16:creationId xmlns:a16="http://schemas.microsoft.com/office/drawing/2014/main" id="{CD00400C-9D31-4E33-9545-77DCA901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77063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18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ade9b22b9a488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499762" y="2853842"/>
            <a:ext cx="427939" cy="4279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9" name="Google Shape;189;p18">
            <a:extLst xmlns:a="http://schemas.openxmlformats.org/drawingml/2006/main">
              <a:ext uri="{FF2B5EF4-FFF2-40B4-BE49-F238E27FC236}">
                <a16:creationId xmlns:a16="http://schemas.microsoft.com/office/drawing/2014/main" id="{12F7FFFB-D8AE-4CF8-A700-40ACEE05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47472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Low-Water Safety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" name="Google Shape;190;p18">
            <a:extLst xmlns:a="http://schemas.openxmlformats.org/drawingml/2006/main">
              <a:ext uri="{FF2B5EF4-FFF2-40B4-BE49-F238E27FC236}">
                <a16:creationId xmlns:a16="http://schemas.microsoft.com/office/drawing/2014/main" id="{1978EF84-2FEB-40A1-80F1-71473B7C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93192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Force the pump OFF whenever the calibrated tank level reaches the safety threshold.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" name="Google Shape;191;p18">
            <a:extLst xmlns:a="http://schemas.openxmlformats.org/drawingml/2006/main">
              <a:ext uri="{FF2B5EF4-FFF2-40B4-BE49-F238E27FC236}">
                <a16:creationId xmlns:a16="http://schemas.microsoft.com/office/drawing/2014/main" id="{48C3F32C-A4B3-4A90-B17D-366E7418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514600"/>
            <a:ext cx="2606040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27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>
            <a:extLst xmlns:a="http://schemas.openxmlformats.org/drawingml/2006/main">
              <a:ext uri="{FF2B5EF4-FFF2-40B4-BE49-F238E27FC236}">
                <a16:creationId xmlns:a16="http://schemas.microsoft.com/office/drawing/2014/main" id="{5D31AFE4-A19A-4030-813F-70382D24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277063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193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d1a550569e4a9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61834" y="2853842"/>
            <a:ext cx="427939" cy="4279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4" name="Google Shape;194;p18">
            <a:extLst xmlns:a="http://schemas.openxmlformats.org/drawingml/2006/main">
              <a:ext uri="{FF2B5EF4-FFF2-40B4-BE49-F238E27FC236}">
                <a16:creationId xmlns:a16="http://schemas.microsoft.com/office/drawing/2014/main" id="{9B3E40EE-E723-407E-B672-CF9E280B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47472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Historical Monitoring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" name="Google Shape;195;p18">
            <a:extLst xmlns:a="http://schemas.openxmlformats.org/drawingml/2006/main">
              <a:ext uri="{FF2B5EF4-FFF2-40B4-BE49-F238E27FC236}">
                <a16:creationId xmlns:a16="http://schemas.microsoft.com/office/drawing/2014/main" id="{E9753267-31FC-45A3-901F-54BC4800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93192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Log sensor history, pump runtime estimates and crop-health images for review.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Google Shape;196;p18">
            <a:extLst xmlns:a="http://schemas.openxmlformats.org/drawingml/2006/main">
              <a:ext uri="{FF2B5EF4-FFF2-40B4-BE49-F238E27FC236}">
                <a16:creationId xmlns:a16="http://schemas.microsoft.com/office/drawing/2014/main" id="{058E5EC8-018D-4DF3-B516-2381B143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2514600"/>
            <a:ext cx="2606040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27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>
            <a:extLst xmlns:a="http://schemas.openxmlformats.org/drawingml/2006/main">
              <a:ext uri="{FF2B5EF4-FFF2-40B4-BE49-F238E27FC236}">
                <a16:creationId xmlns:a16="http://schemas.microsoft.com/office/drawing/2014/main" id="{006750BC-A3B4-4AD2-A01D-168487B7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277063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19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ad3fbba9b54dc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23906" y="2853842"/>
            <a:ext cx="427939" cy="4279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9" name="Google Shape;199;p18">
            <a:extLst xmlns:a="http://schemas.openxmlformats.org/drawingml/2006/main">
              <a:ext uri="{FF2B5EF4-FFF2-40B4-BE49-F238E27FC236}">
                <a16:creationId xmlns:a16="http://schemas.microsoft.com/office/drawing/2014/main" id="{54E533A1-21F7-428F-8D0E-DA9A310D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347472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Crop-Flexible Design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0" name="Google Shape;200;p18">
            <a:extLst xmlns:a="http://schemas.openxmlformats.org/drawingml/2006/main">
              <a:ext uri="{FF2B5EF4-FFF2-40B4-BE49-F238E27FC236}">
                <a16:creationId xmlns:a16="http://schemas.microsoft.com/office/drawing/2014/main" id="{283F6715-9FCC-498D-BCB4-3626186A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393192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Switchable Plant Profiles let the same system adapt to different crops.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Google Shape;201;p18">
            <a:extLst xmlns:a="http://schemas.openxmlformats.org/drawingml/2006/main">
              <a:ext uri="{FF2B5EF4-FFF2-40B4-BE49-F238E27FC236}">
                <a16:creationId xmlns:a16="http://schemas.microsoft.com/office/drawing/2014/main" id="{7FC66941-9E26-4C4F-9436-FB639D6E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24967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7" name="Google Shape;207;p19">
            <a:extLst xmlns:a="http://schemas.openxmlformats.org/drawingml/2006/main">
              <a:ext uri="{FF2B5EF4-FFF2-40B4-BE49-F238E27FC236}">
                <a16:creationId xmlns:a16="http://schemas.microsoft.com/office/drawing/2014/main" id="{5134A8D8-D93F-49D2-9CD7-7DB72399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(B) DESCRIPTION &amp; TARGETED USERS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8" name="Google Shape;208;p19">
            <a:extLst xmlns:a="http://schemas.openxmlformats.org/drawingml/2006/main">
              <a:ext uri="{FF2B5EF4-FFF2-40B4-BE49-F238E27FC236}">
                <a16:creationId xmlns:a16="http://schemas.microsoft.com/office/drawing/2014/main" id="{B4306A01-A5A5-45C0-AF95-99DBB01F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Who Is AgriSense For?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" name="Google Shape;209;p19">
            <a:extLst xmlns:a="http://schemas.openxmlformats.org/drawingml/2006/main">
              <a:ext uri="{FF2B5EF4-FFF2-40B4-BE49-F238E27FC236}">
                <a16:creationId xmlns:a16="http://schemas.microsoft.com/office/drawing/2014/main" id="{3D7DABD3-8CE2-4D26-A80D-FD9AF6A8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AgriSense is deployed on the plantation's existing canopy-sheltered outdoor plot. It targets everyone involved in day-to-day operations and planning: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Google Shape;210;p19">
            <a:extLst xmlns:a="http://schemas.openxmlformats.org/drawingml/2006/main">
              <a:ext uri="{FF2B5EF4-FFF2-40B4-BE49-F238E27FC236}">
                <a16:creationId xmlns:a16="http://schemas.microsoft.com/office/drawing/2014/main" id="{69DF360D-97C7-4B2B-B63F-80E4C914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3520440" cy="32004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">
            <a:extLst xmlns:a="http://schemas.openxmlformats.org/drawingml/2006/main">
              <a:ext uri="{FF2B5EF4-FFF2-40B4-BE49-F238E27FC236}">
                <a16:creationId xmlns:a16="http://schemas.microsoft.com/office/drawing/2014/main" id="{6C5A1EAF-AA33-46A4-A9F8-0A3EB02D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42316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12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b8ff1e2be6408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61972" y="2519172"/>
            <a:ext cx="493776" cy="4937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3" name="Google Shape;213;p19">
            <a:extLst xmlns:a="http://schemas.openxmlformats.org/drawingml/2006/main">
              <a:ext uri="{FF2B5EF4-FFF2-40B4-BE49-F238E27FC236}">
                <a16:creationId xmlns:a16="http://schemas.microsoft.com/office/drawing/2014/main" id="{AD7844A0-28F4-41C2-8F55-C682EC9A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Farm Owners / Managers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" name="Google Shape;214;p19">
            <a:extLst xmlns:a="http://schemas.openxmlformats.org/drawingml/2006/main">
              <a:ext uri="{FF2B5EF4-FFF2-40B4-BE49-F238E27FC236}">
                <a16:creationId xmlns:a16="http://schemas.microsoft.com/office/drawing/2014/main" id="{78ACB835-5563-4A0B-B1AA-C42F7A6D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297180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Get a live overview of plot conditions and resource usage to make faster decisions.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5" name="Google Shape;215;p19">
            <a:extLst xmlns:a="http://schemas.openxmlformats.org/drawingml/2006/main">
              <a:ext uri="{FF2B5EF4-FFF2-40B4-BE49-F238E27FC236}">
                <a16:creationId xmlns:a16="http://schemas.microsoft.com/office/drawing/2014/main" id="{C28689D2-1635-4350-A3FA-8F868A0A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148840"/>
            <a:ext cx="3520440" cy="32004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">
            <a:extLst xmlns:a="http://schemas.openxmlformats.org/drawingml/2006/main">
              <a:ext uri="{FF2B5EF4-FFF2-40B4-BE49-F238E27FC236}">
                <a16:creationId xmlns:a16="http://schemas.microsoft.com/office/drawing/2014/main" id="{65CC193C-AC42-44A5-B770-70B47789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242316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17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ae1e11e51745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75020" y="2519172"/>
            <a:ext cx="493776" cy="4937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8" name="Google Shape;218;p19">
            <a:extLst xmlns:a="http://schemas.openxmlformats.org/drawingml/2006/main">
              <a:ext uri="{FF2B5EF4-FFF2-40B4-BE49-F238E27FC236}">
                <a16:creationId xmlns:a16="http://schemas.microsoft.com/office/drawing/2014/main" id="{37642518-DFFA-484D-9BC3-D6DE1569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29184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Field Workers / Technicians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9" name="Google Shape;219;p19">
            <a:extLst xmlns:a="http://schemas.openxmlformats.org/drawingml/2006/main">
              <a:ext uri="{FF2B5EF4-FFF2-40B4-BE49-F238E27FC236}">
                <a16:creationId xmlns:a16="http://schemas.microsoft.com/office/drawing/2014/main" id="{06325FB8-895F-404D-A059-376C287B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886200"/>
            <a:ext cx="297180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Receive actionable alerts (e.g. "Tank low", "Crop stress detected") instead of walking the whole site.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0" name="Google Shape;220;p19">
            <a:extLst xmlns:a="http://schemas.openxmlformats.org/drawingml/2006/main">
              <a:ext uri="{FF2B5EF4-FFF2-40B4-BE49-F238E27FC236}">
                <a16:creationId xmlns:a16="http://schemas.microsoft.com/office/drawing/2014/main" id="{B00672F3-1EBF-4A27-8EA0-6BA76F83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148840"/>
            <a:ext cx="3520440" cy="32004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>
            <a:extLst xmlns:a="http://schemas.openxmlformats.org/drawingml/2006/main">
              <a:ext uri="{FF2B5EF4-FFF2-40B4-BE49-F238E27FC236}">
                <a16:creationId xmlns:a16="http://schemas.microsoft.com/office/drawing/2014/main" id="{ADAD7C1B-AED4-4718-9A24-F9DFEF42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056" y="242316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22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fa73d8a85b40e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88068" y="2519172"/>
            <a:ext cx="493776" cy="4937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3" name="Google Shape;223;p19">
            <a:extLst xmlns:a="http://schemas.openxmlformats.org/drawingml/2006/main">
              <a:ext uri="{FF2B5EF4-FFF2-40B4-BE49-F238E27FC236}">
                <a16:creationId xmlns:a16="http://schemas.microsoft.com/office/drawing/2014/main" id="{41C9E3FA-2867-4617-AD63-5097DDDA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29184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Agronomists / Analysts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19">
            <a:extLst xmlns:a="http://schemas.openxmlformats.org/drawingml/2006/main">
              <a:ext uri="{FF2B5EF4-FFF2-40B4-BE49-F238E27FC236}">
                <a16:creationId xmlns:a16="http://schemas.microsoft.com/office/drawing/2014/main" id="{F7912B86-9C81-47DD-988B-746F0497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3886200"/>
            <a:ext cx="297180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Use logged trends (moisture, climate, growth photos, resource usage) to study crop health and plan ahead.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5" name="Google Shape;225;p19">
            <a:extLst xmlns:a="http://schemas.openxmlformats.org/drawingml/2006/main">
              <a:ext uri="{FF2B5EF4-FFF2-40B4-BE49-F238E27FC236}">
                <a16:creationId xmlns:a16="http://schemas.microsoft.com/office/drawing/2014/main" id="{6823F449-5E81-4E18-841A-8C57B5C1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250"/>
              <a:buFont typeface="Calibri"/>
              <a:buNone/>
            </a:pPr>
            <a:r>
              <a:rPr sz="1250" b="1" i="1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Deployment setting:  </a:t>
            </a:r>
            <a:r>
              <a:rPr sz="1250" b="0" i="1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Outdoor plot under a fixed protective canopy — sheltering electronics and the webcam from direct rain/sun while still allowing natural light and airflow.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19">
            <a:extLst xmlns:a="http://schemas.openxmlformats.org/drawingml/2006/main">
              <a:ext uri="{FF2B5EF4-FFF2-40B4-BE49-F238E27FC236}">
                <a16:creationId xmlns:a16="http://schemas.microsoft.com/office/drawing/2014/main" id="{C402E63D-1645-4788-8E46-ED8555B1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5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0528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Google Shape;232;p20">
            <a:extLst xmlns:a="http://schemas.openxmlformats.org/drawingml/2006/main">
              <a:ext uri="{FF2B5EF4-FFF2-40B4-BE49-F238E27FC236}">
                <a16:creationId xmlns:a16="http://schemas.microsoft.com/office/drawing/2014/main" id="{D469BEC4-8AFE-4968-AF85-41D761FF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(B) SYSTEM OVERVIEW DIAGRAM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3" name="Google Shape;233;p20">
            <a:extLst xmlns:a="http://schemas.openxmlformats.org/drawingml/2006/main">
              <a:ext uri="{FF2B5EF4-FFF2-40B4-BE49-F238E27FC236}">
                <a16:creationId xmlns:a16="http://schemas.microsoft.com/office/drawing/2014/main" id="{5E20F66E-706B-4FC6-BC8B-1DC0DA10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Overall System Architecture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4" name="Google Shape;234;p20">
            <a:extLst xmlns:a="http://schemas.openxmlformats.org/drawingml/2006/main">
              <a:ext uri="{FF2B5EF4-FFF2-40B4-BE49-F238E27FC236}">
                <a16:creationId xmlns:a16="http://schemas.microsoft.com/office/drawing/2014/main" id="{13B49FC2-251B-4D24-AB34-2587D2EF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250"/>
              <a:buFont typeface="Calibri"/>
              <a:buNone/>
            </a:pPr>
            <a:r>
              <a:rPr sz="1250" b="0" i="1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One ESP32 runs Modules 1–3; the Laptop runs Node-RED and Module 4, linked through MQTT and Supabase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5" name="Google Shape;235;p20">
            <a:extLst xmlns:a="http://schemas.openxmlformats.org/drawingml/2006/main">
              <a:ext uri="{FF2B5EF4-FFF2-40B4-BE49-F238E27FC236}">
                <a16:creationId xmlns:a16="http://schemas.microsoft.com/office/drawing/2014/main" id="{22458216-7CF6-4DF2-893C-954AB909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106424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E7CB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>
            <a:extLst xmlns:a="http://schemas.openxmlformats.org/drawingml/2006/main">
              <a:ext uri="{FF2B5EF4-FFF2-40B4-BE49-F238E27FC236}">
                <a16:creationId xmlns:a16="http://schemas.microsoft.com/office/drawing/2014/main" id="{2DA4101A-96BA-431B-9504-DDE7A0C1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37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2526e3a83c4a2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7006" y="1788566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8" name="Google Shape;238;p20">
            <a:extLst xmlns:a="http://schemas.openxmlformats.org/drawingml/2006/main">
              <a:ext uri="{FF2B5EF4-FFF2-40B4-BE49-F238E27FC236}">
                <a16:creationId xmlns:a16="http://schemas.microsoft.com/office/drawing/2014/main" id="{81CB197D-C028-453F-A66B-7516DFEE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1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sz="115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EXTERNAL DATA · Open-Meteo forecast → Node-RED weather decision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9" name="Google Shape;239;p20">
            <a:extLst xmlns:a="http://schemas.openxmlformats.org/drawingml/2006/main">
              <a:ext uri="{FF2B5EF4-FFF2-40B4-BE49-F238E27FC236}">
                <a16:creationId xmlns:a16="http://schemas.microsoft.com/office/drawing/2014/main" id="{61896F67-6248-45B9-8834-2E03AB40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3520440" cy="361188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 w="12700" cmpd="sng">
            <a:solidFill>
              <a:srgbClr val="6E9C5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">
            <a:extLst xmlns:a="http://schemas.openxmlformats.org/drawingml/2006/main">
              <a:ext uri="{FF2B5EF4-FFF2-40B4-BE49-F238E27FC236}">
                <a16:creationId xmlns:a16="http://schemas.microsoft.com/office/drawing/2014/main" id="{FB104CAF-5C67-4166-989E-C33AC80E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50592"/>
            <a:ext cx="31546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100"/>
              <a:buFont typeface="Calibri"/>
              <a:buNone/>
            </a:pPr>
            <a:r>
              <a:rPr sz="11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EDGE LAYER  ·  ESP32 + LAPTOP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1" name="Google Shape;241;p20">
            <a:extLst xmlns:a="http://schemas.openxmlformats.org/drawingml/2006/main">
              <a:ext uri="{FF2B5EF4-FFF2-40B4-BE49-F238E27FC236}">
                <a16:creationId xmlns:a16="http://schemas.microsoft.com/office/drawing/2014/main" id="{401522F2-9F24-4DF7-9F1E-0AA9B744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715768"/>
            <a:ext cx="3227832" cy="694944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127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>
            <a:extLst xmlns:a="http://schemas.openxmlformats.org/drawingml/2006/main">
              <a:ext uri="{FF2B5EF4-FFF2-40B4-BE49-F238E27FC236}">
                <a16:creationId xmlns:a16="http://schemas.microsoft.com/office/drawing/2014/main" id="{B20D7FAF-D5F7-4F23-8E55-916957D0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880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43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8b5fe0e17549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5878" y="2931566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4" name="Google Shape;244;p20">
            <a:extLst xmlns:a="http://schemas.openxmlformats.org/drawingml/2006/main">
              <a:ext uri="{FF2B5EF4-FFF2-40B4-BE49-F238E27FC236}">
                <a16:creationId xmlns:a16="http://schemas.microsoft.com/office/drawing/2014/main" id="{86C857C8-1B37-4F2E-A209-862D5773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770632"/>
            <a:ext cx="2606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000"/>
              <a:buFont typeface="Calibri"/>
              <a:buNone/>
            </a:pPr>
            <a:r>
              <a:rPr sz="10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1 — Smart Irrigation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" name="Google Shape;245;p20">
            <a:extLst xmlns:a="http://schemas.openxmlformats.org/drawingml/2006/main">
              <a:ext uri="{FF2B5EF4-FFF2-40B4-BE49-F238E27FC236}">
                <a16:creationId xmlns:a16="http://schemas.microsoft.com/office/drawing/2014/main" id="{7F5E35C9-1D71-4648-A892-7C5DEF31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63240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850"/>
              <a:buFont typeface="Calibri"/>
              <a:buNone/>
            </a:pPr>
            <a:r>
              <a:rPr sz="85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Soil + humidity + forecast → pump; AUTO/MANUAL + safety lock</a:t>
            </a:r>
            <a:endParaRPr sz="8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6" name="Google Shape;246;p20">
            <a:extLst xmlns:a="http://schemas.openxmlformats.org/drawingml/2006/main">
              <a:ext uri="{FF2B5EF4-FFF2-40B4-BE49-F238E27FC236}">
                <a16:creationId xmlns:a16="http://schemas.microsoft.com/office/drawing/2014/main" id="{71A91005-74EC-44C8-AE44-2DAD34BC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493008"/>
            <a:ext cx="3227832" cy="694944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127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>
            <a:extLst xmlns:a="http://schemas.openxmlformats.org/drawingml/2006/main">
              <a:ext uri="{FF2B5EF4-FFF2-40B4-BE49-F238E27FC236}">
                <a16:creationId xmlns:a16="http://schemas.microsoft.com/office/drawing/2014/main" id="{858BBD02-6C36-4B42-AA88-B13DF3B2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57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248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9ea1015a244e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5878" y="3708806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9" name="Google Shape;249;p20">
            <a:extLst xmlns:a="http://schemas.openxmlformats.org/drawingml/2006/main">
              <a:ext uri="{FF2B5EF4-FFF2-40B4-BE49-F238E27FC236}">
                <a16:creationId xmlns:a16="http://schemas.microsoft.com/office/drawing/2014/main" id="{316853EA-6A69-488D-A5A1-5FA63BE0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547872"/>
            <a:ext cx="2606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000"/>
              <a:buFont typeface="Calibri"/>
              <a:buNone/>
            </a:pPr>
            <a:r>
              <a:rPr sz="10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2 — Climate Control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0" name="Google Shape;250;p20">
            <a:extLst xmlns:a="http://schemas.openxmlformats.org/drawingml/2006/main">
              <a:ext uri="{FF2B5EF4-FFF2-40B4-BE49-F238E27FC236}">
                <a16:creationId xmlns:a16="http://schemas.microsoft.com/office/drawing/2014/main" id="{017F61E1-6F9D-44BC-8C08-7EBF4E07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840480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850"/>
              <a:buFont typeface="Calibri"/>
              <a:buNone/>
            </a:pPr>
            <a:r>
              <a:rPr sz="85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DHT11 + LDR → fan + prototype grow-light LED</a:t>
            </a:r>
            <a:endParaRPr sz="8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Google Shape;251;p20">
            <a:extLst xmlns:a="http://schemas.openxmlformats.org/drawingml/2006/main">
              <a:ext uri="{FF2B5EF4-FFF2-40B4-BE49-F238E27FC236}">
                <a16:creationId xmlns:a16="http://schemas.microsoft.com/office/drawing/2014/main" id="{C6BA8F6C-F248-4320-81CB-98B365D2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270248"/>
            <a:ext cx="3227832" cy="694944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127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">
            <a:extLst xmlns:a="http://schemas.openxmlformats.org/drawingml/2006/main">
              <a:ext uri="{FF2B5EF4-FFF2-40B4-BE49-F238E27FC236}">
                <a16:creationId xmlns:a16="http://schemas.microsoft.com/office/drawing/2014/main" id="{BECBBA56-CA12-472E-AD6E-6D2D9E15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348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253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b94c6bf0884f7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5878" y="4486046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4" name="Google Shape;254;p20">
            <a:extLst xmlns:a="http://schemas.openxmlformats.org/drawingml/2006/main">
              <a:ext uri="{FF2B5EF4-FFF2-40B4-BE49-F238E27FC236}">
                <a16:creationId xmlns:a16="http://schemas.microsoft.com/office/drawing/2014/main" id="{59671424-F88F-4E3B-A7C3-FD4A56FD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325112"/>
            <a:ext cx="2606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000"/>
              <a:buFont typeface="Calibri"/>
              <a:buNone/>
            </a:pPr>
            <a:r>
              <a:rPr sz="10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3 — Water Tank &amp; Resource Mgmt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5" name="Google Shape;255;p20">
            <a:extLst xmlns:a="http://schemas.openxmlformats.org/drawingml/2006/main">
              <a:ext uri="{FF2B5EF4-FFF2-40B4-BE49-F238E27FC236}">
                <a16:creationId xmlns:a16="http://schemas.microsoft.com/office/drawing/2014/main" id="{492C373A-1CBC-4D85-84E8-134DC71B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617720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850"/>
              <a:buFont typeface="Calibri"/>
              <a:buNone/>
            </a:pPr>
            <a:r>
              <a:rPr sz="85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Water-level brick → calibrated % + pump lock + runtime estimate</a:t>
            </a:r>
            <a:endParaRPr sz="8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6" name="Google Shape;256;p20">
            <a:extLst xmlns:a="http://schemas.openxmlformats.org/drawingml/2006/main">
              <a:ext uri="{FF2B5EF4-FFF2-40B4-BE49-F238E27FC236}">
                <a16:creationId xmlns:a16="http://schemas.microsoft.com/office/drawing/2014/main" id="{5E0C3D6A-3CFB-43C7-B632-F5C3E9FE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047488"/>
            <a:ext cx="3227832" cy="694944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127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>
            <a:extLst xmlns:a="http://schemas.openxmlformats.org/drawingml/2006/main">
              <a:ext uri="{FF2B5EF4-FFF2-40B4-BE49-F238E27FC236}">
                <a16:creationId xmlns:a16="http://schemas.microsoft.com/office/drawing/2014/main" id="{22307208-7AEB-45E3-BE11-BD51D12E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2120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258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cecbbe28e947a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5878" y="5263286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9" name="Google Shape;259;p20">
            <a:extLst xmlns:a="http://schemas.openxmlformats.org/drawingml/2006/main">
              <a:ext uri="{FF2B5EF4-FFF2-40B4-BE49-F238E27FC236}">
                <a16:creationId xmlns:a16="http://schemas.microsoft.com/office/drawing/2014/main" id="{D6C410F8-374C-4630-B91A-620DB1AE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02352"/>
            <a:ext cx="2606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000"/>
              <a:buFont typeface="Calibri"/>
              <a:buNone/>
            </a:pPr>
            <a:r>
              <a:rPr sz="10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4 — Farm Safety &amp; Crop Health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0" name="Google Shape;260;p20">
            <a:extLst xmlns:a="http://schemas.openxmlformats.org/drawingml/2006/main">
              <a:ext uri="{FF2B5EF4-FFF2-40B4-BE49-F238E27FC236}">
                <a16:creationId xmlns:a16="http://schemas.microsoft.com/office/drawing/2014/main" id="{60184284-ABDD-423C-86A0-6D225C30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94960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850"/>
              <a:buFont typeface="Calibri"/>
              <a:buNone/>
            </a:pPr>
            <a:r>
              <a:rPr sz="85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USB webcam (Laptop) + MQTT climate → warning + growth diary</a:t>
            </a:r>
            <a:endParaRPr sz="8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1" name="Google Shape;261;p20">
            <a:extLst xmlns:a="http://schemas.openxmlformats.org/drawingml/2006/main">
              <a:ext uri="{FF2B5EF4-FFF2-40B4-BE49-F238E27FC236}">
                <a16:creationId xmlns:a16="http://schemas.microsoft.com/office/drawing/2014/main" id="{6F67EEB7-5034-4D0E-8A5E-E7F7322E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54780"/>
            <a:ext cx="457200" cy="36576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E9C5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>
            <a:extLst xmlns:a="http://schemas.openxmlformats.org/drawingml/2006/main">
              <a:ext uri="{FF2B5EF4-FFF2-40B4-BE49-F238E27FC236}">
                <a16:creationId xmlns:a16="http://schemas.microsoft.com/office/drawing/2014/main" id="{8F334BE6-DDF7-43E9-8374-8F160297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31720"/>
            <a:ext cx="2788920" cy="361188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">
            <a:extLst xmlns:a="http://schemas.openxmlformats.org/drawingml/2006/main">
              <a:ext uri="{FF2B5EF4-FFF2-40B4-BE49-F238E27FC236}">
                <a16:creationId xmlns:a16="http://schemas.microsoft.com/office/drawing/2014/main" id="{5F1AFF1D-F453-41B9-9134-EF1FD070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6888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MQTT + CLOUD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4" name="Google Shape;264;p20">
            <a:extLst xmlns:a="http://schemas.openxmlformats.org/drawingml/2006/main">
              <a:ext uri="{FF2B5EF4-FFF2-40B4-BE49-F238E27FC236}">
                <a16:creationId xmlns:a16="http://schemas.microsoft.com/office/drawing/2014/main" id="{7F79988F-E8E1-4584-B41E-8E1BF7FB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52344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7DCB8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C7DCB8"/>
                </a:solidFill>
                <a:latin typeface="Calibri"/>
                <a:ea typeface="Calibri"/>
                <a:cs typeface="Calibri"/>
              </a:rPr>
              <a:t>HiveMQ + Supabase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5" name="Google Shape;265;p20">
            <a:extLst xmlns:a="http://schemas.openxmlformats.org/drawingml/2006/main">
              <a:ext uri="{FF2B5EF4-FFF2-40B4-BE49-F238E27FC236}">
                <a16:creationId xmlns:a16="http://schemas.microsoft.com/office/drawing/2014/main" id="{485DDDDA-90BC-4228-AA3A-3DC078DC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980" y="324612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C5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266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8eb00164ca44d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82996" y="3374136"/>
            <a:ext cx="658368" cy="6583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7" name="Google Shape;267;p20">
            <a:extLst xmlns:a="http://schemas.openxmlformats.org/drawingml/2006/main">
              <a:ext uri="{FF2B5EF4-FFF2-40B4-BE49-F238E27FC236}">
                <a16:creationId xmlns:a16="http://schemas.microsoft.com/office/drawing/2014/main" id="{4199D9BC-4012-44C8-892D-E737EC7A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389120"/>
            <a:ext cx="233172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3EEDA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E3EEDA"/>
                </a:solidFill>
                <a:latin typeface="Calibri"/>
                <a:ea typeface="Calibri"/>
                <a:cs typeface="Calibri"/>
              </a:rPr>
              <a:t>HiveMQ carries live telemetry and control; Supabase stores readings, alerts and growth-diary images.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8" name="Google Shape;268;p20">
            <a:extLst xmlns:a="http://schemas.openxmlformats.org/drawingml/2006/main">
              <a:ext uri="{FF2B5EF4-FFF2-40B4-BE49-F238E27FC236}">
                <a16:creationId xmlns:a16="http://schemas.microsoft.com/office/drawing/2014/main" id="{220F3386-BF61-43D6-B78B-E487B696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954780"/>
            <a:ext cx="457200" cy="36576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E9C5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>
            <a:extLst xmlns:a="http://schemas.openxmlformats.org/drawingml/2006/main">
              <a:ext uri="{FF2B5EF4-FFF2-40B4-BE49-F238E27FC236}">
                <a16:creationId xmlns:a16="http://schemas.microsoft.com/office/drawing/2014/main" id="{AB40AF5D-2742-4885-B45D-361A9BD1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331720"/>
            <a:ext cx="3703320" cy="361188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>
            <a:extLst xmlns:a="http://schemas.openxmlformats.org/drawingml/2006/main">
              <a:ext uri="{FF2B5EF4-FFF2-40B4-BE49-F238E27FC236}">
                <a16:creationId xmlns:a16="http://schemas.microsoft.com/office/drawing/2014/main" id="{66239292-F143-4914-B91C-2C9A77F2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450592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DASHBOARD + NODE-RED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1" name="Google Shape;271;p20">
            <a:extLst xmlns:a="http://schemas.openxmlformats.org/drawingml/2006/main">
              <a:ext uri="{FF2B5EF4-FFF2-40B4-BE49-F238E27FC236}">
                <a16:creationId xmlns:a16="http://schemas.microsoft.com/office/drawing/2014/main" id="{F51FF4CE-B245-44C7-ABF6-7E8CB593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734056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3DE"/>
              </a:buClr>
              <a:buSzPts val="950"/>
              <a:buFont typeface="Calibri"/>
              <a:buNone/>
            </a:pPr>
            <a:r>
              <a:rPr sz="950" b="0" i="1" u="none" cap="none">
                <a:solidFill>
                  <a:srgbClr val="FFF3DE"/>
                </a:solidFill>
                <a:latin typeface="Calibri"/>
                <a:ea typeface="Calibri"/>
                <a:cs typeface="Calibri"/>
              </a:rPr>
              <a:t>GitHub dashboard for live control · Node-RED weather logic on Laptop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2" name="Google Shape;272;p20">
            <a:extLst xmlns:a="http://schemas.openxmlformats.org/drawingml/2006/main">
              <a:ext uri="{FF2B5EF4-FFF2-40B4-BE49-F238E27FC236}">
                <a16:creationId xmlns:a16="http://schemas.microsoft.com/office/drawing/2014/main" id="{8E66D8F4-76F1-4107-99AA-BD66757C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29184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">
            <a:extLst xmlns:a="http://schemas.openxmlformats.org/drawingml/2006/main">
              <a:ext uri="{FF2B5EF4-FFF2-40B4-BE49-F238E27FC236}">
                <a16:creationId xmlns:a16="http://schemas.microsoft.com/office/drawing/2014/main" id="{63868800-FC02-4280-979C-28DE2490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154680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Live status, trend charts &amp; growth photo timeline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Google Shape;274;p20">
            <a:extLst xmlns:a="http://schemas.openxmlformats.org/drawingml/2006/main">
              <a:ext uri="{FF2B5EF4-FFF2-40B4-BE49-F238E27FC236}">
                <a16:creationId xmlns:a16="http://schemas.microsoft.com/office/drawing/2014/main" id="{0B6E1782-5D7F-4CD9-9BA2-BCF82EFD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913632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>
            <a:extLst xmlns:a="http://schemas.openxmlformats.org/drawingml/2006/main">
              <a:ext uri="{FF2B5EF4-FFF2-40B4-BE49-F238E27FC236}">
                <a16:creationId xmlns:a16="http://schemas.microsoft.com/office/drawing/2014/main" id="{B147E884-FDDF-48A1-8588-6B9E1A45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776472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Rule-triggered log + module Health Status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6" name="Google Shape;276;p20">
            <a:extLst xmlns:a="http://schemas.openxmlformats.org/drawingml/2006/main">
              <a:ext uri="{FF2B5EF4-FFF2-40B4-BE49-F238E27FC236}">
                <a16:creationId xmlns:a16="http://schemas.microsoft.com/office/drawing/2014/main" id="{1A0E904D-2939-466B-BBEE-874EDB9D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535424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>
            <a:extLst xmlns:a="http://schemas.openxmlformats.org/drawingml/2006/main">
              <a:ext uri="{FF2B5EF4-FFF2-40B4-BE49-F238E27FC236}">
                <a16:creationId xmlns:a16="http://schemas.microsoft.com/office/drawing/2014/main" id="{63B7D70A-1859-44FA-87AC-9F3EF255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98264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Dashboard and MQTT alerts with module health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8" name="Google Shape;278;p20">
            <a:extLst xmlns:a="http://schemas.openxmlformats.org/drawingml/2006/main">
              <a:ext uri="{FF2B5EF4-FFF2-40B4-BE49-F238E27FC236}">
                <a16:creationId xmlns:a16="http://schemas.microsoft.com/office/drawing/2014/main" id="{E3A0C2E2-D31E-4DAC-A72F-3AE99733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51572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>
            <a:extLst xmlns:a="http://schemas.openxmlformats.org/drawingml/2006/main">
              <a:ext uri="{FF2B5EF4-FFF2-40B4-BE49-F238E27FC236}">
                <a16:creationId xmlns:a16="http://schemas.microsoft.com/office/drawing/2014/main" id="{DF925EE4-AD32-4129-BDAC-CEA06160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020056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Manual control for pump, fan and prototype light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0" name="Google Shape;280;p20">
            <a:extLst xmlns:a="http://schemas.openxmlformats.org/drawingml/2006/main">
              <a:ext uri="{FF2B5EF4-FFF2-40B4-BE49-F238E27FC236}">
                <a16:creationId xmlns:a16="http://schemas.microsoft.com/office/drawing/2014/main" id="{38B836E8-F8F4-4102-8406-667C223F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8076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50"/>
              <a:buFont typeface="Calibri"/>
              <a:buNone/>
            </a:pPr>
            <a:r>
              <a:rPr sz="1050" b="0" i="1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Priority: LOW-WATER LOCK &gt; MANUAL &gt; AUTO. Module 4 warns only; no automatic treatment.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1" name="Google Shape;281;p20">
            <a:extLst xmlns:a="http://schemas.openxmlformats.org/drawingml/2006/main">
              <a:ext uri="{FF2B5EF4-FFF2-40B4-BE49-F238E27FC236}">
                <a16:creationId xmlns:a16="http://schemas.microsoft.com/office/drawing/2014/main" id="{4B19193B-DE7E-43D1-AE0A-E5BE2B20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6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19630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7" name="Google Shape;287;p21">
            <a:extLst xmlns:a="http://schemas.openxmlformats.org/drawingml/2006/main">
              <a:ext uri="{FF2B5EF4-FFF2-40B4-BE49-F238E27FC236}">
                <a16:creationId xmlns:a16="http://schemas.microsoft.com/office/drawing/2014/main" id="{3C3CCFF0-26A9-4973-8DCB-D939D5B0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(C) FUNCTIONAL MODULE — MEMBER 1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8" name="Google Shape;288;p21">
            <a:extLst xmlns:a="http://schemas.openxmlformats.org/drawingml/2006/main">
              <a:ext uri="{FF2B5EF4-FFF2-40B4-BE49-F238E27FC236}">
                <a16:creationId xmlns:a16="http://schemas.microsoft.com/office/drawing/2014/main" id="{3CEE7A76-D04D-401D-B178-4E169846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400"/>
              <a:buFont typeface="Cambria"/>
              <a:buNone/>
            </a:pPr>
            <a:r>
              <a:rPr sz="2400" b="1" i="0" u="none" cap="none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Smart Irrigation Management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9" name="Google Shape;289;p21">
            <a:extLst xmlns:a="http://schemas.openxmlformats.org/drawingml/2006/main">
              <a:ext uri="{FF2B5EF4-FFF2-40B4-BE49-F238E27FC236}">
                <a16:creationId xmlns:a16="http://schemas.microsoft.com/office/drawing/2014/main" id="{08CD2D82-BA0B-4C09-8900-68D35FC8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61872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Weather-aware watering with AUTO/MANUAL control and a hard low-water lock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0" name="Google Shape;290;p21">
            <a:extLst xmlns:a="http://schemas.openxmlformats.org/drawingml/2006/main">
              <a:ext uri="{FF2B5EF4-FFF2-40B4-BE49-F238E27FC236}">
                <a16:creationId xmlns:a16="http://schemas.microsoft.com/office/drawing/2014/main" id="{7BC9FC4D-98D9-4016-B4F8-D8B72251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2606040" cy="416052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6E9C5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>
            <a:extLst xmlns:a="http://schemas.openxmlformats.org/drawingml/2006/main">
              <a:ext uri="{FF2B5EF4-FFF2-40B4-BE49-F238E27FC236}">
                <a16:creationId xmlns:a16="http://schemas.microsoft.com/office/drawing/2014/main" id="{9AE77BFD-42F3-47B4-A1CF-CD905B00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" y="2011680"/>
            <a:ext cx="109728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292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4c2b300e0843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56639" y="2165299"/>
            <a:ext cx="790042" cy="79004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3" name="Google Shape;293;p21">
            <a:extLst xmlns:a="http://schemas.openxmlformats.org/drawingml/2006/main">
              <a:ext uri="{FF2B5EF4-FFF2-40B4-BE49-F238E27FC236}">
                <a16:creationId xmlns:a16="http://schemas.microsoft.com/office/drawing/2014/main" id="{58A725FA-CEBB-4C76-8EBC-DB1FF47B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sz="1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Module</a:t>
            </a:r>
            <a:r>
              <a:rPr sz="155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1</a:t>
            </a:r>
            <a:endParaRPr sz="1550" b="1" i="0" u="none" cap="non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sz="1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Kueh Jian Wei</a:t>
            </a:r>
            <a:endParaRPr sz="15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4" name="Google Shape;294;p21">
            <a:extLst xmlns:a="http://schemas.openxmlformats.org/drawingml/2006/main">
              <a:ext uri="{FF2B5EF4-FFF2-40B4-BE49-F238E27FC236}">
                <a16:creationId xmlns:a16="http://schemas.microsoft.com/office/drawing/2014/main" id="{98F01EA7-CA7D-4CD2-A4E7-09275751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ESP32 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41" name="Google Shape;295;p21"/>
          <p:cNvCxnSpPr/>
          <p:nvPr/>
        </p:nvCxnSpPr>
        <p:spPr>
          <a:xfrm xmlns:a="http://schemas.openxmlformats.org/drawingml/2006/main">
            <a:off x="914400" y="4069080"/>
            <a:ext cx="187452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FFFFF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96" name="Google Shape;296;p21">
            <a:extLst xmlns:a="http://schemas.openxmlformats.org/drawingml/2006/main">
              <a:ext uri="{FF2B5EF4-FFF2-40B4-BE49-F238E27FC236}">
                <a16:creationId xmlns:a16="http://schemas.microsoft.com/office/drawing/2014/main" id="{94D65893-1FA2-42A1-8600-D447875B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sz="950" b="0" i="1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Owns full Input → Process → Output loop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Google Shape;297;p21">
            <a:extLst xmlns:a="http://schemas.openxmlformats.org/drawingml/2006/main">
              <a:ext uri="{FF2B5EF4-FFF2-40B4-BE49-F238E27FC236}">
                <a16:creationId xmlns:a16="http://schemas.microsoft.com/office/drawing/2014/main" id="{B9DBEA30-1E91-43AD-BF4C-548B19D9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37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29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6cee9b23bc41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1788566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9" name="Google Shape;299;p21">
            <a:extLst xmlns:a="http://schemas.openxmlformats.org/drawingml/2006/main">
              <a:ext uri="{FF2B5EF4-FFF2-40B4-BE49-F238E27FC236}">
                <a16:creationId xmlns:a16="http://schemas.microsoft.com/office/drawing/2014/main" id="{91B74900-450B-4B6A-8E69-2138C6FE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1709928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Input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0" name="Google Shape;300;p21">
            <a:extLst xmlns:a="http://schemas.openxmlformats.org/drawingml/2006/main">
              <a:ext uri="{FF2B5EF4-FFF2-40B4-BE49-F238E27FC236}">
                <a16:creationId xmlns:a16="http://schemas.microsoft.com/office/drawing/2014/main" id="{C7E09F3B-B1F4-4D02-AB5B-2FDCF4B2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011680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Soil moisture · humidity from Module 2 · Weather API forecast through Node-RED · low-water lock from Module 3.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1" name="Google Shape;301;p21">
            <a:extLst xmlns:a="http://schemas.openxmlformats.org/drawingml/2006/main">
              <a:ext uri="{FF2B5EF4-FFF2-40B4-BE49-F238E27FC236}">
                <a16:creationId xmlns:a16="http://schemas.microsoft.com/office/drawing/2014/main" id="{EBE16B8B-26C2-4971-B06E-3CD77185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5234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02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6cee9b23bc41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2803550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3" name="Google Shape;303;p21">
            <a:extLst xmlns:a="http://schemas.openxmlformats.org/drawingml/2006/main">
              <a:ext uri="{FF2B5EF4-FFF2-40B4-BE49-F238E27FC236}">
                <a16:creationId xmlns:a16="http://schemas.microsoft.com/office/drawing/2014/main" id="{5E43CF57-773C-4D1F-ABC8-FDA960B1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724912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Process — Rule-01 (Irrigation)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4" name="Google Shape;304;p21">
            <a:extLst xmlns:a="http://schemas.openxmlformats.org/drawingml/2006/main">
              <a:ext uri="{FF2B5EF4-FFF2-40B4-BE49-F238E27FC236}">
                <a16:creationId xmlns:a16="http://schemas.microsoft.com/office/drawing/2014/main" id="{2B06BA21-3DCA-4031-8ED5-8DAF5816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3026664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Dry soil + no rain expected → Pump ON. Rain expected soon → delay. Moist soil → Pump OFF.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5" name="Google Shape;305;p21">
            <a:extLst xmlns:a="http://schemas.openxmlformats.org/drawingml/2006/main">
              <a:ext uri="{FF2B5EF4-FFF2-40B4-BE49-F238E27FC236}">
                <a16:creationId xmlns:a16="http://schemas.microsoft.com/office/drawing/2014/main" id="{E25359FC-A287-4E17-8EFC-8FE44212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6732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2" name="Google Shape;306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6cee9b23bc41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3818534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7" name="Google Shape;307;p21">
            <a:extLst xmlns:a="http://schemas.openxmlformats.org/drawingml/2006/main">
              <a:ext uri="{FF2B5EF4-FFF2-40B4-BE49-F238E27FC236}">
                <a16:creationId xmlns:a16="http://schemas.microsoft.com/office/drawing/2014/main" id="{5B827812-F240-4A10-8640-3A36F840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3739896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Process — Control Priority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8" name="Google Shape;308;p21">
            <a:extLst xmlns:a="http://schemas.openxmlformats.org/drawingml/2006/main">
              <a:ext uri="{FF2B5EF4-FFF2-40B4-BE49-F238E27FC236}">
                <a16:creationId xmlns:a16="http://schemas.microsoft.com/office/drawing/2014/main" id="{754F4CF2-5E46-4EDE-86F3-3A87BADF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4041648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LOW-WATER LOCK &gt; MANUAL &gt; AUTO. Automatic rules never overwrite MANUAL; the safety lock can still force Pump OFF.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9" name="Google Shape;309;p21">
            <a:extLst xmlns:a="http://schemas.openxmlformats.org/drawingml/2006/main">
              <a:ext uri="{FF2B5EF4-FFF2-40B4-BE49-F238E27FC236}">
                <a16:creationId xmlns:a16="http://schemas.microsoft.com/office/drawing/2014/main" id="{AA6560E6-697D-4DE5-8AFD-A2746141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8231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10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6cee9b23bc41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4833518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1" name="Google Shape;311;p21">
            <a:extLst xmlns:a="http://schemas.openxmlformats.org/drawingml/2006/main">
              <a:ext uri="{FF2B5EF4-FFF2-40B4-BE49-F238E27FC236}">
                <a16:creationId xmlns:a16="http://schemas.microsoft.com/office/drawing/2014/main" id="{7D8A84DD-910C-44AE-B4FF-F3C707DC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4754880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Output &amp; Design Note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2" name="Google Shape;312;p21">
            <a:extLst xmlns:a="http://schemas.openxmlformats.org/drawingml/2006/main">
              <a:ext uri="{FF2B5EF4-FFF2-40B4-BE49-F238E27FC236}">
                <a16:creationId xmlns:a16="http://schemas.microsoft.com/office/drawing/2014/main" id="{5A712D1E-B255-462F-905C-E6F81722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5056632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Water pump + 16×2 LCD + dashboard alert + irrigation history. Safety feedback confirms the actual pump state.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3" name="Google Shape;313;p21">
            <a:extLst xmlns:a="http://schemas.openxmlformats.org/drawingml/2006/main">
              <a:ext uri="{FF2B5EF4-FFF2-40B4-BE49-F238E27FC236}">
                <a16:creationId xmlns:a16="http://schemas.microsoft.com/office/drawing/2014/main" id="{82094E5A-CBED-4A4C-8116-A2B61E4B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7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9076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9" name="Google Shape;319;p22">
            <a:extLst xmlns:a="http://schemas.openxmlformats.org/drawingml/2006/main">
              <a:ext uri="{FF2B5EF4-FFF2-40B4-BE49-F238E27FC236}">
                <a16:creationId xmlns:a16="http://schemas.microsoft.com/office/drawing/2014/main" id="{D4C9DA6B-C7FD-47E2-B79E-828E479B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(C) FUNCTIONAL MODULE — MEMBER 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0" name="Google Shape;320;p22">
            <a:extLst xmlns:a="http://schemas.openxmlformats.org/drawingml/2006/main">
              <a:ext uri="{FF2B5EF4-FFF2-40B4-BE49-F238E27FC236}">
                <a16:creationId xmlns:a16="http://schemas.microsoft.com/office/drawing/2014/main" id="{E16A5997-0791-4CF6-A794-F88B4EF7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400"/>
              <a:buFont typeface="Cambria"/>
              <a:buNone/>
            </a:pPr>
            <a:r>
              <a:rPr sz="2400" b="1" i="0" u="none" cap="none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Climate Control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1" name="Google Shape;321;p22">
            <a:extLst xmlns:a="http://schemas.openxmlformats.org/drawingml/2006/main">
              <a:ext uri="{FF2B5EF4-FFF2-40B4-BE49-F238E27FC236}">
                <a16:creationId xmlns:a16="http://schemas.microsoft.com/office/drawing/2014/main" id="{B8B4F254-924C-4337-9EDF-598AC311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61872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300"/>
              <a:buFont typeface="Calibri"/>
              <a:buNone/>
            </a:pPr>
            <a:r>
              <a:rPr sz="1300" i="1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Monitor temperature, humidity and light with confirmed prototype hardware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2" name="Google Shape;322;p22">
            <a:extLst xmlns:a="http://schemas.openxmlformats.org/drawingml/2006/main">
              <a:ext uri="{FF2B5EF4-FFF2-40B4-BE49-F238E27FC236}">
                <a16:creationId xmlns:a16="http://schemas.microsoft.com/office/drawing/2014/main" id="{D8B20A26-FFE2-4B88-9DBB-F897C405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2606040" cy="416052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2">
            <a:extLst xmlns:a="http://schemas.openxmlformats.org/drawingml/2006/main">
              <a:ext uri="{FF2B5EF4-FFF2-40B4-BE49-F238E27FC236}">
                <a16:creationId xmlns:a16="http://schemas.microsoft.com/office/drawing/2014/main" id="{20273B69-059B-4260-B714-4AC5D2E3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" y="2011680"/>
            <a:ext cx="109728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24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ca765179f4417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56639" y="2165299"/>
            <a:ext cx="790042" cy="79004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5" name="Google Shape;325;p22">
            <a:extLst xmlns:a="http://schemas.openxmlformats.org/drawingml/2006/main">
              <a:ext uri="{FF2B5EF4-FFF2-40B4-BE49-F238E27FC236}">
                <a16:creationId xmlns:a16="http://schemas.microsoft.com/office/drawing/2014/main" id="{547AFBE7-1319-4279-8F1B-8E2FEE14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sz="1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Module 2</a:t>
            </a:r>
            <a:endParaRPr sz="15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sz="1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Tey Ying Heng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6" name="Google Shape;326;p22">
            <a:extLst xmlns:a="http://schemas.openxmlformats.org/drawingml/2006/main">
              <a:ext uri="{FF2B5EF4-FFF2-40B4-BE49-F238E27FC236}">
                <a16:creationId xmlns:a16="http://schemas.microsoft.com/office/drawing/2014/main" id="{23EC8CD2-CE9B-4208-8AB7-D538FC2E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ESP32 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73" name="Google Shape;327;p22"/>
          <p:cNvCxnSpPr/>
          <p:nvPr/>
        </p:nvCxnSpPr>
        <p:spPr>
          <a:xfrm xmlns:a="http://schemas.openxmlformats.org/drawingml/2006/main">
            <a:off x="914400" y="4069080"/>
            <a:ext cx="187452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FFFFF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28" name="Google Shape;328;p22">
            <a:extLst xmlns:a="http://schemas.openxmlformats.org/drawingml/2006/main">
              <a:ext uri="{FF2B5EF4-FFF2-40B4-BE49-F238E27FC236}">
                <a16:creationId xmlns:a16="http://schemas.microsoft.com/office/drawing/2014/main" id="{238A86AF-4220-4E9D-8136-7FFC2337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sz="950" b="0" i="1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Owns full Input → Process → Output loop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9" name="Google Shape;329;p22">
            <a:extLst xmlns:a="http://schemas.openxmlformats.org/drawingml/2006/main">
              <a:ext uri="{FF2B5EF4-FFF2-40B4-BE49-F238E27FC236}">
                <a16:creationId xmlns:a16="http://schemas.microsoft.com/office/drawing/2014/main" id="{2C7AC938-53EF-434D-90F0-64637C0B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37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6" name="Google Shape;330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0355f4f0f04d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1788566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1" name="Google Shape;331;p22">
            <a:extLst xmlns:a="http://schemas.openxmlformats.org/drawingml/2006/main">
              <a:ext uri="{FF2B5EF4-FFF2-40B4-BE49-F238E27FC236}">
                <a16:creationId xmlns:a16="http://schemas.microsoft.com/office/drawing/2014/main" id="{388D71D7-1DF7-4BE1-8211-11FF4E5F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1709928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Input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2" name="Google Shape;332;p22">
            <a:extLst xmlns:a="http://schemas.openxmlformats.org/drawingml/2006/main">
              <a:ext uri="{FF2B5EF4-FFF2-40B4-BE49-F238E27FC236}">
                <a16:creationId xmlns:a16="http://schemas.microsoft.com/office/drawing/2014/main" id="{96FCB36F-70D3-4520-BEEF-D2CA6531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011680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DHT11 (temperature/humidity) · LDR (raw light level).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3" name="Google Shape;333;p22">
            <a:extLst xmlns:a="http://schemas.openxmlformats.org/drawingml/2006/main">
              <a:ext uri="{FF2B5EF4-FFF2-40B4-BE49-F238E27FC236}">
                <a16:creationId xmlns:a16="http://schemas.microsoft.com/office/drawing/2014/main" id="{970DE85F-B704-4D7E-8875-F2B2D07C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5234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0" name="Google Shape;334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0355f4f0f04d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2803550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5" name="Google Shape;335;p22">
            <a:extLst xmlns:a="http://schemas.openxmlformats.org/drawingml/2006/main">
              <a:ext uri="{FF2B5EF4-FFF2-40B4-BE49-F238E27FC236}">
                <a16:creationId xmlns:a16="http://schemas.microsoft.com/office/drawing/2014/main" id="{741C28E7-0F30-4CF9-907C-F2C4D2CF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724912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Process — Rule-03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6" name="Google Shape;336;p22">
            <a:extLst xmlns:a="http://schemas.openxmlformats.org/drawingml/2006/main">
              <a:ext uri="{FF2B5EF4-FFF2-40B4-BE49-F238E27FC236}">
                <a16:creationId xmlns:a16="http://schemas.microsoft.com/office/drawing/2014/main" id="{DD4236ED-7C4C-48F5-BA92-B0FA0473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3026664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LDR below its calibrated raw threshold → ordinary yellow LED ON as a prototype grow-light indicator.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7" name="Google Shape;337;p22">
            <a:extLst xmlns:a="http://schemas.openxmlformats.org/drawingml/2006/main">
              <a:ext uri="{FF2B5EF4-FFF2-40B4-BE49-F238E27FC236}">
                <a16:creationId xmlns:a16="http://schemas.microsoft.com/office/drawing/2014/main" id="{35857562-2A24-4741-A4BA-EA7F4A9D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6732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4" name="Google Shape;338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0355f4f0f04d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3818534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9" name="Google Shape;339;p22">
            <a:extLst xmlns:a="http://schemas.openxmlformats.org/drawingml/2006/main">
              <a:ext uri="{FF2B5EF4-FFF2-40B4-BE49-F238E27FC236}">
                <a16:creationId xmlns:a16="http://schemas.microsoft.com/office/drawing/2014/main" id="{95C6437E-8E84-4BA7-96D3-331FE3B8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3739896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Process — Rule-04 / 04b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0" name="Google Shape;340;p22">
            <a:extLst xmlns:a="http://schemas.openxmlformats.org/drawingml/2006/main">
              <a:ext uri="{FF2B5EF4-FFF2-40B4-BE49-F238E27FC236}">
                <a16:creationId xmlns:a16="http://schemas.microsoft.com/office/drawing/2014/main" id="{81403F03-54FC-431E-AB57-30680B4F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4041648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Temperature ≥ 30°C → fan ON; temperature ≤ 28°C → fan OFF, using hysteresis to avoid rapid switching.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1" name="Google Shape;341;p22">
            <a:extLst xmlns:a="http://schemas.openxmlformats.org/drawingml/2006/main">
              <a:ext uri="{FF2B5EF4-FFF2-40B4-BE49-F238E27FC236}">
                <a16:creationId xmlns:a16="http://schemas.microsoft.com/office/drawing/2014/main" id="{EB82B60B-B0E9-44C8-97E9-FE4BACD9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8231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8" name="Google Shape;342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0355f4f0f04d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4833518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3" name="Google Shape;343;p22">
            <a:extLst xmlns:a="http://schemas.openxmlformats.org/drawingml/2006/main">
              <a:ext uri="{FF2B5EF4-FFF2-40B4-BE49-F238E27FC236}">
                <a16:creationId xmlns:a16="http://schemas.microsoft.com/office/drawing/2014/main" id="{CE5DE22E-A4A1-453A-9AEB-DB5C0565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4754880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Output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4" name="Google Shape;344;p22">
            <a:extLst xmlns:a="http://schemas.openxmlformats.org/drawingml/2006/main">
              <a:ext uri="{FF2B5EF4-FFF2-40B4-BE49-F238E27FC236}">
                <a16:creationId xmlns:a16="http://schemas.microsoft.com/office/drawing/2014/main" id="{003C0B8C-7589-41AD-B6A9-0B008DD8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5056632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Fan + ordinary yellow LED (prototype indicator, not a real agricultural grow light); LCD and dashboard status.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5" name="Google Shape;345;p22">
            <a:extLst xmlns:a="http://schemas.openxmlformats.org/drawingml/2006/main">
              <a:ext uri="{FF2B5EF4-FFF2-40B4-BE49-F238E27FC236}">
                <a16:creationId xmlns:a16="http://schemas.microsoft.com/office/drawing/2014/main" id="{24C585A2-22D4-4DDD-A49D-8CAF983F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8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69923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1" name="Google Shape;351;p23">
            <a:extLst xmlns:a="http://schemas.openxmlformats.org/drawingml/2006/main">
              <a:ext uri="{FF2B5EF4-FFF2-40B4-BE49-F238E27FC236}">
                <a16:creationId xmlns:a16="http://schemas.microsoft.com/office/drawing/2014/main" id="{8F317D1B-874E-409A-AB01-2CDE0AFF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(C) FUNCTIONAL MODULE — MEMBER 3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2" name="Google Shape;352;p23">
            <a:extLst xmlns:a="http://schemas.openxmlformats.org/drawingml/2006/main">
              <a:ext uri="{FF2B5EF4-FFF2-40B4-BE49-F238E27FC236}">
                <a16:creationId xmlns:a16="http://schemas.microsoft.com/office/drawing/2014/main" id="{F882BC57-771C-4149-B6AE-D55B7311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400"/>
              <a:buFont typeface="Cambria"/>
              <a:buNone/>
            </a:pPr>
            <a:r>
              <a:rPr sz="2400" b="1" i="0" u="none" cap="none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Water Tank &amp; Resource Management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3" name="Google Shape;353;p23">
            <a:extLst xmlns:a="http://schemas.openxmlformats.org/drawingml/2006/main">
              <a:ext uri="{FF2B5EF4-FFF2-40B4-BE49-F238E27FC236}">
                <a16:creationId xmlns:a16="http://schemas.microsoft.com/office/drawing/2014/main" id="{0D72BEF9-F9E0-4A48-B579-E01D2875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61872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One analog level sensor supports calibration, safety locking and honest usage estimates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4" name="Google Shape;354;p23">
            <a:extLst xmlns:a="http://schemas.openxmlformats.org/drawingml/2006/main">
              <a:ext uri="{FF2B5EF4-FFF2-40B4-BE49-F238E27FC236}">
                <a16:creationId xmlns:a16="http://schemas.microsoft.com/office/drawing/2014/main" id="{F57307E6-7226-4F31-A3E5-061BBF04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2606040" cy="416052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3E6B8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3">
            <a:extLst xmlns:a="http://schemas.openxmlformats.org/drawingml/2006/main">
              <a:ext uri="{FF2B5EF4-FFF2-40B4-BE49-F238E27FC236}">
                <a16:creationId xmlns:a16="http://schemas.microsoft.com/office/drawing/2014/main" id="{326B862F-3AB7-4E5A-B35F-A41C1FB8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" y="2011680"/>
            <a:ext cx="109728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2" name="Google Shape;356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434e72c53d450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56639" y="2165299"/>
            <a:ext cx="790042" cy="79004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7" name="Google Shape;357;p23">
            <a:extLst xmlns:a="http://schemas.openxmlformats.org/drawingml/2006/main">
              <a:ext uri="{FF2B5EF4-FFF2-40B4-BE49-F238E27FC236}">
                <a16:creationId xmlns:a16="http://schemas.microsoft.com/office/drawing/2014/main" id="{90DA604C-159D-4B0C-92C8-DF9B8170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sz="1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Module 3</a:t>
            </a:r>
            <a:endParaRPr sz="15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sz="1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Heng Jing Le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8" name="Google Shape;358;p23">
            <a:extLst xmlns:a="http://schemas.openxmlformats.org/drawingml/2006/main">
              <a:ext uri="{FF2B5EF4-FFF2-40B4-BE49-F238E27FC236}">
                <a16:creationId xmlns:a16="http://schemas.microsoft.com/office/drawing/2014/main" id="{EE8DEED4-3783-464A-8B6E-64DC6350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ESP32 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405" name="Google Shape;359;p23"/>
          <p:cNvCxnSpPr/>
          <p:nvPr/>
        </p:nvCxnSpPr>
        <p:spPr>
          <a:xfrm xmlns:a="http://schemas.openxmlformats.org/drawingml/2006/main">
            <a:off x="914400" y="4069080"/>
            <a:ext cx="187452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FFFFF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60" name="Google Shape;360;p23">
            <a:extLst xmlns:a="http://schemas.openxmlformats.org/drawingml/2006/main">
              <a:ext uri="{FF2B5EF4-FFF2-40B4-BE49-F238E27FC236}">
                <a16:creationId xmlns:a16="http://schemas.microsoft.com/office/drawing/2014/main" id="{36A958F5-5C5B-4B67-886E-B11D9261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sz="950" b="0" i="1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Owns full Input → Process → Output loop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1" name="Google Shape;361;p23">
            <a:extLst xmlns:a="http://schemas.openxmlformats.org/drawingml/2006/main">
              <a:ext uri="{FF2B5EF4-FFF2-40B4-BE49-F238E27FC236}">
                <a16:creationId xmlns:a16="http://schemas.microsoft.com/office/drawing/2014/main" id="{1BFD8A4F-8722-4628-A55A-6AA22CDB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37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8" name="Google Shape;362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1488c28a5a48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1788566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3" name="Google Shape;363;p23">
            <a:extLst xmlns:a="http://schemas.openxmlformats.org/drawingml/2006/main">
              <a:ext uri="{FF2B5EF4-FFF2-40B4-BE49-F238E27FC236}">
                <a16:creationId xmlns:a16="http://schemas.microsoft.com/office/drawing/2014/main" id="{F3B9A780-8660-479C-9682-259E4F89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1709928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Input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4" name="Google Shape;364;p23">
            <a:extLst xmlns:a="http://schemas.openxmlformats.org/drawingml/2006/main">
              <a:ext uri="{FF2B5EF4-FFF2-40B4-BE49-F238E27FC236}">
                <a16:creationId xmlns:a16="http://schemas.microsoft.com/office/drawing/2014/main" id="{48AFE742-DE99-41B3-B5A0-C88B8482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011680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Analog High-Sensitivity Water Level Brick Sensor connected to ESP32 ADC1.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5" name="Google Shape;365;p23">
            <a:extLst xmlns:a="http://schemas.openxmlformats.org/drawingml/2006/main">
              <a:ext uri="{FF2B5EF4-FFF2-40B4-BE49-F238E27FC236}">
                <a16:creationId xmlns:a16="http://schemas.microsoft.com/office/drawing/2014/main" id="{ACE0E8FE-9EFC-4A16-93FA-A631C6EB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5234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2" name="Google Shape;366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1488c28a5a48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2803550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7" name="Google Shape;367;p23">
            <a:extLst xmlns:a="http://schemas.openxmlformats.org/drawingml/2006/main">
              <a:ext uri="{FF2B5EF4-FFF2-40B4-BE49-F238E27FC236}">
                <a16:creationId xmlns:a16="http://schemas.microsoft.com/office/drawing/2014/main" id="{44DB8BF9-5E67-49FB-ADCA-A1EF2B6B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724912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Process — Calibration &amp; Safety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8" name="Google Shape;368;p23">
            <a:extLst xmlns:a="http://schemas.openxmlformats.org/drawingml/2006/main">
              <a:ext uri="{FF2B5EF4-FFF2-40B4-BE49-F238E27FC236}">
                <a16:creationId xmlns:a16="http://schemas.microsoft.com/office/drawing/2014/main" id="{B506E14F-6366-4A01-AAA0-910CFA08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3026664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Map raw readings between measured empty/full points. At ≤15%, force Pump OFF and publish a non-bypassable lock.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9" name="Google Shape;369;p23">
            <a:extLst xmlns:a="http://schemas.openxmlformats.org/drawingml/2006/main">
              <a:ext uri="{FF2B5EF4-FFF2-40B4-BE49-F238E27FC236}">
                <a16:creationId xmlns:a16="http://schemas.microsoft.com/office/drawing/2014/main" id="{012FC769-12C0-4C6C-9883-1B6E8F3B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6732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6" name="Google Shape;370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1488c28a5a48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3818534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1" name="Google Shape;371;p23">
            <a:extLst xmlns:a="http://schemas.openxmlformats.org/drawingml/2006/main">
              <a:ext uri="{FF2B5EF4-FFF2-40B4-BE49-F238E27FC236}">
                <a16:creationId xmlns:a16="http://schemas.microsoft.com/office/drawing/2014/main" id="{33962BE6-D62F-4F14-B97F-5E65333B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3739896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Process — Runtime Estimate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2" name="Google Shape;372;p23">
            <a:extLst xmlns:a="http://schemas.openxmlformats.org/drawingml/2006/main">
              <a:ext uri="{FF2B5EF4-FFF2-40B4-BE49-F238E27FC236}">
                <a16:creationId xmlns:a16="http://schemas.microsoft.com/office/drawing/2014/main" id="{C1F73DD3-F1F2-4CFF-BD83-6B03DB4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4041648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Estimate water use from pump ON time only; label it as an estimate until a calibrated flow sensor is installed.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3" name="Google Shape;373;p23">
            <a:extLst xmlns:a="http://schemas.openxmlformats.org/drawingml/2006/main">
              <a:ext uri="{FF2B5EF4-FFF2-40B4-BE49-F238E27FC236}">
                <a16:creationId xmlns:a16="http://schemas.microsoft.com/office/drawing/2014/main" id="{681D1EC4-A51F-4C16-956A-F56FFB46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8231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0" name="Google Shape;374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1488c28a5a48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4833518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5" name="Google Shape;375;p23">
            <a:extLst xmlns:a="http://schemas.openxmlformats.org/drawingml/2006/main">
              <a:ext uri="{FF2B5EF4-FFF2-40B4-BE49-F238E27FC236}">
                <a16:creationId xmlns:a16="http://schemas.microsoft.com/office/drawing/2014/main" id="{A9C49351-6B33-4825-B51E-099AC533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4754880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Output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6" name="Google Shape;376;p23">
            <a:extLst xmlns:a="http://schemas.openxmlformats.org/drawingml/2006/main">
              <a:ext uri="{FF2B5EF4-FFF2-40B4-BE49-F238E27FC236}">
                <a16:creationId xmlns:a16="http://schemas.microsoft.com/office/drawing/2014/main" id="{2519B72C-660C-43AA-BD08-3ABDD0E4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5056632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Buzzer, LCD and dashboard warning; MQTT pump-lock state; water-level history and estimated usage.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7" name="Google Shape;377;p23">
            <a:extLst xmlns:a="http://schemas.openxmlformats.org/drawingml/2006/main">
              <a:ext uri="{FF2B5EF4-FFF2-40B4-BE49-F238E27FC236}">
                <a16:creationId xmlns:a16="http://schemas.microsoft.com/office/drawing/2014/main" id="{D476DF0D-3B03-4AD6-B863-F94C6E76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9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64185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3" name="Google Shape;383;p24">
            <a:extLst xmlns:a="http://schemas.openxmlformats.org/drawingml/2006/main">
              <a:ext uri="{FF2B5EF4-FFF2-40B4-BE49-F238E27FC236}">
                <a16:creationId xmlns:a16="http://schemas.microsoft.com/office/drawing/2014/main" id="{4AB4657D-437E-4378-878B-AD3217E5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(C) FUNCTIONAL MODULE — MEMBER 4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4" name="Google Shape;384;p24">
            <a:extLst xmlns:a="http://schemas.openxmlformats.org/drawingml/2006/main">
              <a:ext uri="{FF2B5EF4-FFF2-40B4-BE49-F238E27FC236}">
                <a16:creationId xmlns:a16="http://schemas.microsoft.com/office/drawing/2014/main" id="{4C6AE699-7005-4546-BC95-FD835E7B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400"/>
              <a:buFont typeface="Cambria"/>
              <a:buNone/>
            </a:pPr>
            <a:r>
              <a:rPr sz="2400" b="1" i="0" u="none" cap="none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Farm Safety &amp; Crop Health Monitoring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5" name="Google Shape;385;p24">
            <a:extLst xmlns:a="http://schemas.openxmlformats.org/drawingml/2006/main">
              <a:ext uri="{FF2B5EF4-FFF2-40B4-BE49-F238E27FC236}">
                <a16:creationId xmlns:a16="http://schemas.microsoft.com/office/drawing/2014/main" id="{97E95694-A99A-4210-BA10-3C8948C8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61872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One USB webcam, two uses: growth diary and early health warning — warns, doesn't act automatically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6" name="Google Shape;386;p24">
            <a:extLst xmlns:a="http://schemas.openxmlformats.org/drawingml/2006/main">
              <a:ext uri="{FF2B5EF4-FFF2-40B4-BE49-F238E27FC236}">
                <a16:creationId xmlns:a16="http://schemas.microsoft.com/office/drawing/2014/main" id="{A00AE6C4-C589-45BA-8AF4-8A1F7F1B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2606040" cy="416052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4">
            <a:extLst xmlns:a="http://schemas.openxmlformats.org/drawingml/2006/main">
              <a:ext uri="{FF2B5EF4-FFF2-40B4-BE49-F238E27FC236}">
                <a16:creationId xmlns:a16="http://schemas.microsoft.com/office/drawing/2014/main" id="{35D25E0D-486E-4B01-A854-12713368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" y="2011680"/>
            <a:ext cx="109728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4" name="Google Shape;388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5ece1f050a4d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56639" y="2165299"/>
            <a:ext cx="790042" cy="79004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9" name="Google Shape;389;p24">
            <a:extLst xmlns:a="http://schemas.openxmlformats.org/drawingml/2006/main">
              <a:ext uri="{FF2B5EF4-FFF2-40B4-BE49-F238E27FC236}">
                <a16:creationId xmlns:a16="http://schemas.microsoft.com/office/drawing/2014/main" id="{A1B8BDAD-1C3A-4A5B-A561-A7B3E8E7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sz="1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Module 4</a:t>
            </a:r>
            <a:endParaRPr sz="15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sz="1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Foo Tun Wei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0" name="Google Shape;390;p24">
            <a:extLst xmlns:a="http://schemas.openxmlformats.org/drawingml/2006/main">
              <a:ext uri="{FF2B5EF4-FFF2-40B4-BE49-F238E27FC236}">
                <a16:creationId xmlns:a16="http://schemas.microsoft.com/office/drawing/2014/main" id="{18BD84E0-F871-4939-88E7-C7B1A1B2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Laptop + USB Webcam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437" name="Google Shape;391;p24"/>
          <p:cNvCxnSpPr/>
          <p:nvPr/>
        </p:nvCxnSpPr>
        <p:spPr>
          <a:xfrm xmlns:a="http://schemas.openxmlformats.org/drawingml/2006/main">
            <a:off x="914400" y="4069080"/>
            <a:ext cx="187452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FFFFF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92" name="Google Shape;392;p24">
            <a:extLst xmlns:a="http://schemas.openxmlformats.org/drawingml/2006/main">
              <a:ext uri="{FF2B5EF4-FFF2-40B4-BE49-F238E27FC236}">
                <a16:creationId xmlns:a16="http://schemas.microsoft.com/office/drawing/2014/main" id="{CD4B78B2-7211-4F6E-8BE5-DCBA9E67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22402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sz="950" b="0" i="1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Owns full Input → Process → Output loop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3" name="Google Shape;393;p24">
            <a:extLst xmlns:a="http://schemas.openxmlformats.org/drawingml/2006/main">
              <a:ext uri="{FF2B5EF4-FFF2-40B4-BE49-F238E27FC236}">
                <a16:creationId xmlns:a16="http://schemas.microsoft.com/office/drawing/2014/main" id="{D369A98B-443C-4E0E-8F9E-5B7B898B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37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0" name="Google Shape;394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f038eb552645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1788566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5" name="Google Shape;395;p24">
            <a:extLst xmlns:a="http://schemas.openxmlformats.org/drawingml/2006/main">
              <a:ext uri="{FF2B5EF4-FFF2-40B4-BE49-F238E27FC236}">
                <a16:creationId xmlns:a16="http://schemas.microsoft.com/office/drawing/2014/main" id="{358C8C32-2D57-45FB-8F20-CEEE220E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1709928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Input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6" name="Google Shape;396;p24">
            <a:extLst xmlns:a="http://schemas.openxmlformats.org/drawingml/2006/main">
              <a:ext uri="{FF2B5EF4-FFF2-40B4-BE49-F238E27FC236}">
                <a16:creationId xmlns:a16="http://schemas.microsoft.com/office/drawing/2014/main" id="{F4DCA1B6-943C-4A03-B0A4-2DE7C998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011680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USB webcam connected directly to Laptop · temperature/humidity subscribed through MQTT.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7" name="Google Shape;397;p24">
            <a:extLst xmlns:a="http://schemas.openxmlformats.org/drawingml/2006/main">
              <a:ext uri="{FF2B5EF4-FFF2-40B4-BE49-F238E27FC236}">
                <a16:creationId xmlns:a16="http://schemas.microsoft.com/office/drawing/2014/main" id="{37BE88F0-10E8-48B7-97AE-E94BE0A4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5234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4" name="Google Shape;398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f038eb552645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2803550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9" name="Google Shape;399;p24">
            <a:extLst xmlns:a="http://schemas.openxmlformats.org/drawingml/2006/main">
              <a:ext uri="{FF2B5EF4-FFF2-40B4-BE49-F238E27FC236}">
                <a16:creationId xmlns:a16="http://schemas.microsoft.com/office/drawing/2014/main" id="{BE085472-713D-4276-81CE-513EE209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724912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Process — Dual Use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0" name="Google Shape;400;p24">
            <a:extLst xmlns:a="http://schemas.openxmlformats.org/drawingml/2006/main">
              <a:ext uri="{FF2B5EF4-FFF2-40B4-BE49-F238E27FC236}">
                <a16:creationId xmlns:a16="http://schemas.microsoft.com/office/drawing/2014/main" id="{7BC47ACF-5122-402A-A722-B1C69D21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3026664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Validate each image, archive it in the growth diary, then use HSV segmentation for green/yellow area percentages.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1" name="Google Shape;401;p24">
            <a:extLst xmlns:a="http://schemas.openxmlformats.org/drawingml/2006/main">
              <a:ext uri="{FF2B5EF4-FFF2-40B4-BE49-F238E27FC236}">
                <a16:creationId xmlns:a16="http://schemas.microsoft.com/office/drawing/2014/main" id="{702A4042-7D24-4142-835F-4E95A244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6732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8" name="Google Shape;402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f038eb552645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3818534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3" name="Google Shape;403;p24">
            <a:extLst xmlns:a="http://schemas.openxmlformats.org/drawingml/2006/main">
              <a:ext uri="{FF2B5EF4-FFF2-40B4-BE49-F238E27FC236}">
                <a16:creationId xmlns:a16="http://schemas.microsoft.com/office/drawing/2014/main" id="{75E63AB9-C3A6-4F23-9EEC-E03069A8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3739896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Process — Rule-06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4" name="Google Shape;404;p24">
            <a:extLst xmlns:a="http://schemas.openxmlformats.org/drawingml/2006/main">
              <a:ext uri="{FF2B5EF4-FFF2-40B4-BE49-F238E27FC236}">
                <a16:creationId xmlns:a16="http://schemas.microsoft.com/office/drawing/2014/main" id="{EF888D25-6CD5-4337-8ED6-E6AE52F3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4041648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Rising yellowing trend plus high humidity → higher prototype risk score and GREEN/AMBER/RED warning.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5" name="Google Shape;405;p24">
            <a:extLst xmlns:a="http://schemas.openxmlformats.org/drawingml/2006/main">
              <a:ext uri="{FF2B5EF4-FFF2-40B4-BE49-F238E27FC236}">
                <a16:creationId xmlns:a16="http://schemas.microsoft.com/office/drawing/2014/main" id="{1FED31C8-0967-4A16-88B8-E66C4BA6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8231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2" name="Google Shape;406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f038eb552645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80206" y="4833518"/>
            <a:ext cx="263347" cy="263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7" name="Google Shape;407;p24">
            <a:extLst xmlns:a="http://schemas.openxmlformats.org/drawingml/2006/main">
              <a:ext uri="{FF2B5EF4-FFF2-40B4-BE49-F238E27FC236}">
                <a16:creationId xmlns:a16="http://schemas.microsoft.com/office/drawing/2014/main" id="{2EDC43C7-5059-4ACF-AB25-62429173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4754880"/>
            <a:ext cx="733348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Output — Indicator + UI (by design)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8" name="Google Shape;408;p24">
            <a:extLst xmlns:a="http://schemas.openxmlformats.org/drawingml/2006/main">
              <a:ext uri="{FF2B5EF4-FFF2-40B4-BE49-F238E27FC236}">
                <a16:creationId xmlns:a16="http://schemas.microsoft.com/office/drawing/2014/main" id="{5A5F6BE7-708F-41EA-917C-66069CB0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5056632"/>
            <a:ext cx="733348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ESP32 RGB light + buzzer receive MQTT status; dashboard and Supabase store warnings. Colour stress is a proxy — no diagnosis or automatic treatment.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9" name="Google Shape;409;p24">
            <a:extLst xmlns:a="http://schemas.openxmlformats.org/drawingml/2006/main">
              <a:ext uri="{FF2B5EF4-FFF2-40B4-BE49-F238E27FC236}">
                <a16:creationId xmlns:a16="http://schemas.microsoft.com/office/drawing/2014/main" id="{29C29CB9-2525-4343-A0A4-B79C38C4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10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15119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5" name="Google Shape;415;p25">
            <a:extLst xmlns:a="http://schemas.openxmlformats.org/drawingml/2006/main">
              <a:ext uri="{FF2B5EF4-FFF2-40B4-BE49-F238E27FC236}">
                <a16:creationId xmlns:a16="http://schemas.microsoft.com/office/drawing/2014/main" id="{944673DA-D219-4FC2-8EC2-DD4AF390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CROSS-MODULE DESIGN STANDARDS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6" name="Google Shape;416;p25">
            <a:extLst xmlns:a="http://schemas.openxmlformats.org/drawingml/2006/main">
              <a:ext uri="{FF2B5EF4-FFF2-40B4-BE49-F238E27FC236}">
                <a16:creationId xmlns:a16="http://schemas.microsoft.com/office/drawing/2014/main" id="{617A1AE3-8FCF-42E0-86FF-A163E5BA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Shared Standards Across All 4 Modules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7" name="Google Shape;417;p25">
            <a:extLst xmlns:a="http://schemas.openxmlformats.org/drawingml/2006/main">
              <a:ext uri="{FF2B5EF4-FFF2-40B4-BE49-F238E27FC236}">
                <a16:creationId xmlns:a16="http://schemas.microsoft.com/office/drawing/2014/main" id="{65EB620D-BE37-4831-A045-A3F0AF59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35204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27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5">
            <a:extLst xmlns:a="http://schemas.openxmlformats.org/drawingml/2006/main">
              <a:ext uri="{FF2B5EF4-FFF2-40B4-BE49-F238E27FC236}">
                <a16:creationId xmlns:a16="http://schemas.microsoft.com/office/drawing/2014/main" id="{8767B28B-80C3-436D-9314-AF27DA03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14884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3" name="Google Shape;419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9b2d027d9f4f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61972" y="2244852"/>
            <a:ext cx="493776" cy="4937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20" name="Google Shape;420;p25">
            <a:extLst xmlns:a="http://schemas.openxmlformats.org/drawingml/2006/main">
              <a:ext uri="{FF2B5EF4-FFF2-40B4-BE49-F238E27FC236}">
                <a16:creationId xmlns:a16="http://schemas.microsoft.com/office/drawing/2014/main" id="{8DF4AD29-60CE-4913-984B-DD7768F5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50"/>
              <a:buFont typeface="Calibri"/>
              <a:buNone/>
            </a:pPr>
            <a:r>
              <a:rPr sz="14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Rule Table, not if-else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1" name="Google Shape;421;p25">
            <a:extLst xmlns:a="http://schemas.openxmlformats.org/drawingml/2006/main">
              <a:ext uri="{FF2B5EF4-FFF2-40B4-BE49-F238E27FC236}">
                <a16:creationId xmlns:a16="http://schemas.microsoft.com/office/drawing/2014/main" id="{51B2A4E1-A788-4EBE-B245-9DDD67BC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80"/>
            <a:ext cx="2971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Keep each decision as Condition → Action with a rule ID, so the dashboard explains why an actuator changed.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2" name="Google Shape;422;p25">
            <a:extLst xmlns:a="http://schemas.openxmlformats.org/drawingml/2006/main">
              <a:ext uri="{FF2B5EF4-FFF2-40B4-BE49-F238E27FC236}">
                <a16:creationId xmlns:a16="http://schemas.microsoft.com/office/drawing/2014/main" id="{561770C8-C681-4331-8F01-1B6A49B1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874520"/>
            <a:ext cx="35204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27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5">
            <a:extLst xmlns:a="http://schemas.openxmlformats.org/drawingml/2006/main">
              <a:ext uri="{FF2B5EF4-FFF2-40B4-BE49-F238E27FC236}">
                <a16:creationId xmlns:a16="http://schemas.microsoft.com/office/drawing/2014/main" id="{8EEEB6C2-6C1E-4FD3-8DE6-CD7A6867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214884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8" name="Google Shape;424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eef809540a41e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75020" y="2244852"/>
            <a:ext cx="493776" cy="4937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25" name="Google Shape;425;p25">
            <a:extLst xmlns:a="http://schemas.openxmlformats.org/drawingml/2006/main">
              <a:ext uri="{FF2B5EF4-FFF2-40B4-BE49-F238E27FC236}">
                <a16:creationId xmlns:a16="http://schemas.microsoft.com/office/drawing/2014/main" id="{C658F5A2-7ED4-4D92-9DC5-DD964788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01752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50"/>
              <a:buFont typeface="Calibri"/>
              <a:buNone/>
            </a:pPr>
            <a:r>
              <a:rPr sz="14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Per-Module Health Status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6" name="Google Shape;426;p25">
            <a:extLst xmlns:a="http://schemas.openxmlformats.org/drawingml/2006/main">
              <a:ext uri="{FF2B5EF4-FFF2-40B4-BE49-F238E27FC236}">
                <a16:creationId xmlns:a16="http://schemas.microsoft.com/office/drawing/2014/main" id="{731B7B5A-3D23-4510-B6A8-21FAF9A3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611880"/>
            <a:ext cx="2971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Each module reports Healthy / Warning / Fault for its own hardware (e.g. "Pump: Healthy"), giving an at-a-glance system health view.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7" name="Google Shape;427;p25">
            <a:extLst xmlns:a="http://schemas.openxmlformats.org/drawingml/2006/main">
              <a:ext uri="{FF2B5EF4-FFF2-40B4-BE49-F238E27FC236}">
                <a16:creationId xmlns:a16="http://schemas.microsoft.com/office/drawing/2014/main" id="{FDAB0A22-B104-46BE-9403-E032FFA6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874520"/>
            <a:ext cx="35204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25400" dir="2700000" algn="bl" rotWithShape="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5">
            <a:extLst xmlns:a="http://schemas.openxmlformats.org/drawingml/2006/main">
              <a:ext uri="{FF2B5EF4-FFF2-40B4-BE49-F238E27FC236}">
                <a16:creationId xmlns:a16="http://schemas.microsoft.com/office/drawing/2014/main" id="{7626EDDF-7A6D-4C0C-ABD4-BA457BA7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056" y="214884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29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1f08e96a2e401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88068" y="2244852"/>
            <a:ext cx="493776" cy="4937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0" name="Google Shape;430;p25">
            <a:extLst xmlns:a="http://schemas.openxmlformats.org/drawingml/2006/main">
              <a:ext uri="{FF2B5EF4-FFF2-40B4-BE49-F238E27FC236}">
                <a16:creationId xmlns:a16="http://schemas.microsoft.com/office/drawing/2014/main" id="{F01EDEA0-E1B7-41F7-9D6B-289A79F5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01752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50"/>
              <a:buFont typeface="Calibri"/>
              <a:buNone/>
            </a:pPr>
            <a:r>
              <a:rPr sz="14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Trend, not just a Point Value</a:t>
            </a:r>
            <a:endParaRPr sz="14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1" name="Google Shape;431;p25">
            <a:extLst xmlns:a="http://schemas.openxmlformats.org/drawingml/2006/main">
              <a:ext uri="{FF2B5EF4-FFF2-40B4-BE49-F238E27FC236}">
                <a16:creationId xmlns:a16="http://schemas.microsoft.com/office/drawing/2014/main" id="{CF37D086-BFF7-48D9-B1F4-D11256C4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3611880"/>
            <a:ext cx="2971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50"/>
              <a:buFont typeface="Calibri"/>
              <a:buNone/>
            </a:pPr>
            <a:r>
              <a:rPr sz="115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Dashboards show change over time (e.g. "Humidity 90% ↑ +10% past 3h") — because in real farming, the trend matters more than one reading.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56" name="Google Shape;432;p25"/>
          <p:cNvGraphicFramePr/>
          <p:nvPr/>
        </p:nvGraphicFramePr>
        <p:xfrm>
          <a:off xmlns:a="http://schemas.openxmlformats.org/drawingml/2006/main" x="4434840" y="562356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{8EE72CCD-7DEC-44B5-BE62-3EE02A22F0E7}</a:tableStyleId>
              </a:tblPr>
              <a:tblGrid>
                <a:gridCol w="2392675"/>
                <a:gridCol w="2392675"/>
                <a:gridCol w="2392675"/>
              </a:tblGrid>
              <a:tr h="2560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1" u="none" cap="none">
                          <a:solidFill>
                            <a:srgbClr val="FFFFFF"/>
                          </a:solidFill>
                        </a:rPr>
                        <a:t>Rule ID</a:t>
                      </a:r>
                      <a:endParaRPr sz="110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1" u="none" cap="none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sz="110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sz="1100" b="1" u="none" cap="none">
                          <a:solidFill>
                            <a:srgbClr val="FFFFFF"/>
                          </a:solidFill>
                        </a:rPr>
                        <a:t>Action</a:t>
                      </a:r>
                      <a:endParaRPr sz="110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2C5F2D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sz="1050" u="none" cap="none">
                          <a:solidFill>
                            <a:srgbClr val="000000"/>
                          </a:solidFill>
                        </a:rPr>
                        <a:t>Rule-01</a:t>
                      </a:r>
                      <a:endParaRPr sz="105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sz="1050" u="none" cap="none">
                          <a:solidFill>
                            <a:srgbClr val="000000"/>
                          </a:solidFill>
                        </a:rPr>
                        <a:t>Soil dry, no rain expected</a:t>
                      </a:r>
                      <a:endParaRPr sz="105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sz="1050" u="none" cap="none">
                          <a:solidFill>
                            <a:srgbClr val="000000"/>
                          </a:solidFill>
                        </a:rPr>
                        <a:t>Pump ON</a:t>
                      </a:r>
                      <a:endParaRPr sz="105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sz="1050" u="none" cap="none">
                          <a:solidFill>
                            <a:srgbClr val="000000"/>
                          </a:solidFill>
                        </a:rPr>
                        <a:t>Rule-02</a:t>
                      </a:r>
                      <a:endParaRPr sz="105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sz="1050" u="none" cap="none">
                          <a:solidFill>
                            <a:srgbClr val="000000"/>
                          </a:solidFill>
                        </a:rPr>
                        <a:t>Soil dry, rain expected soon</a:t>
                      </a:r>
                      <a:endParaRPr sz="105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sz="1050" u="none" cap="none">
                          <a:solidFill>
                            <a:srgbClr val="000000"/>
                          </a:solidFill>
                        </a:rPr>
                        <a:t>Delay irrigation</a:t>
                      </a:r>
                      <a:endParaRPr sz="105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sz="1050" u="none" cap="none">
                          <a:solidFill>
                            <a:srgbClr val="000000"/>
                          </a:solidFill>
                        </a:rPr>
                        <a:t>Rule-05</a:t>
                      </a:r>
                      <a:endParaRPr sz="105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sz="1050" u="none" cap="none">
                          <a:solidFill>
                            <a:srgbClr val="000000"/>
                          </a:solidFill>
                        </a:rPr>
                        <a:t>Water level ≤ 15%</a:t>
                      </a:r>
                      <a:endParaRPr sz="105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sz="1050" u="none" cap="none">
                          <a:solidFill>
                            <a:srgbClr val="000000"/>
                          </a:solidFill>
                        </a:rPr>
                        <a:t>Pump OFF + Lock</a:t>
                      </a:r>
                      <a:endParaRPr sz="105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33" name="Google Shape;433;p25">
            <a:extLst xmlns:a="http://schemas.openxmlformats.org/drawingml/2006/main">
              <a:ext uri="{FF2B5EF4-FFF2-40B4-BE49-F238E27FC236}">
                <a16:creationId xmlns:a16="http://schemas.microsoft.com/office/drawing/2014/main" id="{85421F5C-C1A0-41B9-977F-EEADF5F2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212080"/>
            <a:ext cx="717804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50"/>
              <a:buFont typeface="Calibri"/>
              <a:buNone/>
            </a:pPr>
            <a:r>
              <a:rPr sz="1050" b="0" i="1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Example rules reflect weather-aware irrigation and the non-bypassable low-water lock: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4" name="Google Shape;434;p25">
            <a:extLst xmlns:a="http://schemas.openxmlformats.org/drawingml/2006/main">
              <a:ext uri="{FF2B5EF4-FFF2-40B4-BE49-F238E27FC236}">
                <a16:creationId xmlns:a16="http://schemas.microsoft.com/office/drawing/2014/main" id="{F045C3A5-F50E-45D9-9121-AEE4D339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11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89691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0" name="Google Shape;440;p26">
            <a:extLst xmlns:a="http://schemas.openxmlformats.org/drawingml/2006/main">
              <a:ext uri="{FF2B5EF4-FFF2-40B4-BE49-F238E27FC236}">
                <a16:creationId xmlns:a16="http://schemas.microsoft.com/office/drawing/2014/main" id="{0F68C29F-BEF6-4CA8-B808-E8E0B85B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DATA CONTRACT &amp; FLEXIBILITY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1" name="Google Shape;441;p26">
            <a:extLst xmlns:a="http://schemas.openxmlformats.org/drawingml/2006/main">
              <a:ext uri="{FF2B5EF4-FFF2-40B4-BE49-F238E27FC236}">
                <a16:creationId xmlns:a16="http://schemas.microsoft.com/office/drawing/2014/main" id="{680B8B2F-A5DD-404A-B2A3-EBE9E3A1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Data Contract · Plant Profile · Manual Override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2" name="Google Shape;442;p26">
            <a:extLst xmlns:a="http://schemas.openxmlformats.org/drawingml/2006/main">
              <a:ext uri="{FF2B5EF4-FFF2-40B4-BE49-F238E27FC236}">
                <a16:creationId xmlns:a16="http://schemas.microsoft.com/office/drawing/2014/main" id="{CC2D134B-885E-46D2-BF17-08263288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3703320" cy="425196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27321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6">
            <a:extLst xmlns:a="http://schemas.openxmlformats.org/drawingml/2006/main">
              <a:ext uri="{FF2B5EF4-FFF2-40B4-BE49-F238E27FC236}">
                <a16:creationId xmlns:a16="http://schemas.microsoft.com/office/drawing/2014/main" id="{D5885438-C803-4378-8A31-83E1CDE6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745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0" name="Google Shape;444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e3c0d1c5b2b400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5528" y="1938528"/>
            <a:ext cx="329184" cy="3291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5" name="Google Shape;445;p26">
            <a:extLst xmlns:a="http://schemas.openxmlformats.org/drawingml/2006/main">
              <a:ext uri="{FF2B5EF4-FFF2-40B4-BE49-F238E27FC236}">
                <a16:creationId xmlns:a16="http://schemas.microsoft.com/office/drawing/2014/main" id="{758B7FBE-CEC9-4CE2-8E1C-BC249980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947672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Shared Data Contract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6" name="Google Shape;446;p26">
            <a:extLst xmlns:a="http://schemas.openxmlformats.org/drawingml/2006/main">
              <a:ext uri="{FF2B5EF4-FFF2-40B4-BE49-F238E27FC236}">
                <a16:creationId xmlns:a16="http://schemas.microsoft.com/office/drawing/2014/main" id="{F01190FC-FE67-436A-A05C-C45FC087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68880"/>
            <a:ext cx="32461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FE0C4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CFE0C4"/>
                </a:solidFill>
                <a:latin typeface="Calibri"/>
                <a:ea typeface="Calibri"/>
                <a:cs typeface="Calibri"/>
              </a:rPr>
              <a:t>MQTT topics carry live values; Supabase stores a consistent history for the dashboard.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7" name="Google Shape;447;p26">
            <a:extLst xmlns:a="http://schemas.openxmlformats.org/drawingml/2006/main">
              <a:ext uri="{FF2B5EF4-FFF2-40B4-BE49-F238E27FC236}">
                <a16:creationId xmlns:a16="http://schemas.microsoft.com/office/drawing/2014/main" id="{25201104-95AE-40B5-87DA-FBB725E8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3246120" cy="265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E59F"/>
              </a:buClr>
              <a:buSzPts val="1200"/>
              <a:buFont typeface="Consolas"/>
              <a:buNone/>
            </a:pPr>
            <a:r>
              <a:rPr sz="1200" b="0" i="0" u="none" cap="none">
                <a:solidFill>
                  <a:srgbClr val="9FE59F"/>
                </a:solidFill>
                <a:latin typeface="Consolas"/>
                <a:ea typeface="Consolas"/>
                <a:cs typeface="Consolas"/>
              </a:rPr>
              <a:t>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E59F"/>
              </a:buClr>
              <a:buSzPts val="1200"/>
              <a:buFont typeface="Consolas"/>
              <a:buNone/>
            </a:pPr>
            <a:r>
              <a:rPr sz="1200" b="0" i="0" u="none" cap="none">
                <a:solidFill>
                  <a:srgbClr val="9FE59F"/>
                </a:solidFill>
                <a:latin typeface="Consolas"/>
                <a:ea typeface="Consolas"/>
                <a:cs typeface="Consolas"/>
              </a:rPr>
              <a:t>  "module": "irrigation",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E59F"/>
              </a:buClr>
              <a:buSzPts val="1200"/>
              <a:buFont typeface="Consolas"/>
              <a:buNone/>
            </a:pPr>
            <a:r>
              <a:rPr sz="1200" b="0" i="0" u="none" cap="none">
                <a:solidFill>
                  <a:srgbClr val="9FE59F"/>
                </a:solidFill>
                <a:latin typeface="Consolas"/>
                <a:ea typeface="Consolas"/>
                <a:cs typeface="Consolas"/>
              </a:rPr>
              <a:t>  "value": 28,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E59F"/>
              </a:buClr>
              <a:buSzPts val="1200"/>
              <a:buFont typeface="Consolas"/>
              <a:buNone/>
            </a:pPr>
            <a:r>
              <a:rPr sz="1200" b="0" i="0" u="none" cap="none">
                <a:solidFill>
                  <a:srgbClr val="9FE59F"/>
                </a:solidFill>
                <a:latin typeface="Consolas"/>
                <a:ea typeface="Consolas"/>
                <a:cs typeface="Consolas"/>
              </a:rPr>
              <a:t>  "trend": "+5% (3h)",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E59F"/>
              </a:buClr>
              <a:buSzPts val="1200"/>
              <a:buFont typeface="Consolas"/>
              <a:buNone/>
            </a:pPr>
            <a:r>
              <a:rPr sz="1200" b="0" i="0" u="none" cap="none">
                <a:solidFill>
                  <a:srgbClr val="9FE59F"/>
                </a:solidFill>
                <a:latin typeface="Consolas"/>
                <a:ea typeface="Consolas"/>
                <a:cs typeface="Consolas"/>
              </a:rPr>
              <a:t>  "health_status": "Healthy",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E59F"/>
              </a:buClr>
              <a:buSzPts val="1200"/>
              <a:buFont typeface="Consolas"/>
              <a:buNone/>
            </a:pPr>
            <a:r>
              <a:rPr sz="1200" b="0" i="0" u="none" cap="none">
                <a:solidFill>
                  <a:srgbClr val="9FE59F"/>
                </a:solidFill>
                <a:latin typeface="Consolas"/>
                <a:ea typeface="Consolas"/>
                <a:cs typeface="Consolas"/>
              </a:rPr>
              <a:t>  "rule_triggered": "Rule-01",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E59F"/>
              </a:buClr>
              <a:buSzPts val="1200"/>
              <a:buFont typeface="Consolas"/>
              <a:buNone/>
            </a:pPr>
            <a:r>
              <a:rPr sz="1200" b="0" i="0" u="none" cap="none">
                <a:solidFill>
                  <a:srgbClr val="9FE59F"/>
                </a:solidFill>
                <a:latin typeface="Consolas"/>
                <a:ea typeface="Consolas"/>
                <a:cs typeface="Consolas"/>
              </a:rPr>
              <a:t>  "timestamp": "..."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E59F"/>
              </a:buClr>
              <a:buSzPts val="1200"/>
              <a:buFont typeface="Consolas"/>
              <a:buNone/>
            </a:pPr>
            <a:r>
              <a:rPr sz="1200" b="0" i="0" u="none" cap="none">
                <a:solidFill>
                  <a:srgbClr val="9FE59F"/>
                </a:solidFill>
                <a:latin typeface="Consolas"/>
                <a:ea typeface="Consolas"/>
                <a:cs typeface="Consolas"/>
              </a:rPr>
              <a:t>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8" name="Google Shape;448;p26">
            <a:extLst xmlns:a="http://schemas.openxmlformats.org/drawingml/2006/main">
              <a:ext uri="{FF2B5EF4-FFF2-40B4-BE49-F238E27FC236}">
                <a16:creationId xmlns:a16="http://schemas.microsoft.com/office/drawing/2014/main" id="{930DED86-40F9-4694-A3A7-70E42059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91640"/>
            <a:ext cx="3611880" cy="425196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4F7F1"/>
          </a:solidFill>
          <a:ln xmlns:a="http://schemas.openxmlformats.org/drawingml/2006/main" w="12700" cmpd="sng">
            <a:solidFill>
              <a:srgbClr val="6E9C5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6">
            <a:extLst xmlns:a="http://schemas.openxmlformats.org/drawingml/2006/main">
              <a:ext uri="{FF2B5EF4-FFF2-40B4-BE49-F238E27FC236}">
                <a16:creationId xmlns:a16="http://schemas.microsoft.com/office/drawing/2014/main" id="{E17CEC0E-9E58-4024-98E9-7A846BC3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745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6" name="Google Shape;450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e858ac25804d6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18888" y="1938528"/>
            <a:ext cx="329184" cy="3291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1" name="Google Shape;451;p26">
            <a:extLst xmlns:a="http://schemas.openxmlformats.org/drawingml/2006/main">
              <a:ext uri="{FF2B5EF4-FFF2-40B4-BE49-F238E27FC236}">
                <a16:creationId xmlns:a16="http://schemas.microsoft.com/office/drawing/2014/main" id="{24B48314-F469-470E-8959-B2C35F74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9476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Plant Profile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2" name="Google Shape;452;p26">
            <a:extLst xmlns:a="http://schemas.openxmlformats.org/drawingml/2006/main">
              <a:ext uri="{FF2B5EF4-FFF2-40B4-BE49-F238E27FC236}">
                <a16:creationId xmlns:a16="http://schemas.microsoft.com/office/drawing/2014/main" id="{441F4CB0-7AD2-4055-A8D9-175361D8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6888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Business rules read their thresholds from the active profile — switch crops without touching code.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89" name="Google Shape;453;p26"/>
          <p:cNvGraphicFramePr/>
          <p:nvPr/>
        </p:nvGraphicFramePr>
        <p:xfrm>
          <a:off xmlns:a="http://schemas.openxmlformats.org/drawingml/2006/main" x="4800600" y="31546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{8EE72CCD-7DEC-44B5-BE62-3EE02A22F0E7}</a:tableStyleId>
              </a:tblPr>
              <a:tblGrid>
                <a:gridCol w="1051550"/>
                <a:gridCol w="1051550"/>
                <a:gridCol w="1051550"/>
              </a:tblGrid>
              <a:tr h="3200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sz="1000" b="1" u="none" cap="none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sz="100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sz="1000" b="1" u="none" cap="none">
                          <a:solidFill>
                            <a:srgbClr val="FFFFFF"/>
                          </a:solidFill>
                        </a:rPr>
                        <a:t>Tomato</a:t>
                      </a:r>
                      <a:endParaRPr sz="100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sz="1000" b="1" u="none" cap="none">
                          <a:solidFill>
                            <a:srgbClr val="FFFFFF"/>
                          </a:solidFill>
                        </a:rPr>
                        <a:t>Chili</a:t>
                      </a:r>
                      <a:endParaRPr sz="100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2C5F2D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sz="1000" u="none" cap="none">
                          <a:solidFill>
                            <a:srgbClr val="000000"/>
                          </a:solidFill>
                        </a:rPr>
                        <a:t>Soil Moisture</a:t>
                      </a:r>
                      <a:endParaRPr sz="100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sz="1000" u="none" cap="none">
                          <a:solidFill>
                            <a:srgbClr val="000000"/>
                          </a:solidFill>
                        </a:rPr>
                        <a:t>40%</a:t>
                      </a:r>
                      <a:endParaRPr sz="100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sz="1000" u="none" cap="none">
                          <a:solidFill>
                            <a:srgbClr val="000000"/>
                          </a:solidFill>
                        </a:rPr>
                        <a:t>35%</a:t>
                      </a:r>
                      <a:endParaRPr sz="100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sz="1000" u="none" cap="none">
                          <a:solidFill>
                            <a:srgbClr val="000000"/>
                          </a:solidFill>
                        </a:rPr>
                        <a:t>Temp Range</a:t>
                      </a:r>
                      <a:endParaRPr sz="100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sz="1000" u="none" cap="none">
                          <a:solidFill>
                            <a:srgbClr val="000000"/>
                          </a:solidFill>
                        </a:rPr>
                        <a:t>24–30°C</a:t>
                      </a:r>
                      <a:endParaRPr sz="100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sz="1000" u="none" cap="none">
                          <a:solidFill>
                            <a:srgbClr val="000000"/>
                          </a:solidFill>
                        </a:rPr>
                        <a:t>22–28°C</a:t>
                      </a:r>
                      <a:endParaRPr sz="100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sz="1000" u="none" cap="none">
                          <a:solidFill>
                            <a:srgbClr val="000000"/>
                          </a:solidFill>
                        </a:rPr>
                        <a:t>Humidity Max</a:t>
                      </a:r>
                      <a:endParaRPr sz="100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sz="1000" u="none" cap="none">
                          <a:solidFill>
                            <a:srgbClr val="000000"/>
                          </a:solidFill>
                        </a:rPr>
                        <a:t>80%</a:t>
                      </a:r>
                      <a:endParaRPr sz="100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sz="1000" u="none" cap="none">
                          <a:solidFill>
                            <a:srgbClr val="000000"/>
                          </a:solidFill>
                        </a:rPr>
                        <a:t>80%</a:t>
                      </a:r>
                      <a:endParaRPr sz="1000" u="none" cap="none"/>
                    </a:p>
                  </a:txBody>
                  <a:tcPr marL="91450" marR="91450" marT="45725" marB="45725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54" name="Google Shape;454;p26">
            <a:extLst xmlns:a="http://schemas.openxmlformats.org/drawingml/2006/main">
              <a:ext uri="{FF2B5EF4-FFF2-40B4-BE49-F238E27FC236}">
                <a16:creationId xmlns:a16="http://schemas.microsoft.com/office/drawing/2014/main" id="{C06AE46A-1023-49C5-BCEE-0185BEE1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691640"/>
            <a:ext cx="3108960" cy="425196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6">
            <a:extLst xmlns:a="http://schemas.openxmlformats.org/drawingml/2006/main">
              <a:ext uri="{FF2B5EF4-FFF2-40B4-BE49-F238E27FC236}">
                <a16:creationId xmlns:a16="http://schemas.microsoft.com/office/drawing/2014/main" id="{6C9828AD-A0CA-4BEC-A99A-A5D5517A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745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2" name="Google Shape;456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cf338cba8f49a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50808" y="1938528"/>
            <a:ext cx="329184" cy="3291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7" name="Google Shape;457;p26">
            <a:extLst xmlns:a="http://schemas.openxmlformats.org/drawingml/2006/main">
              <a:ext uri="{FF2B5EF4-FFF2-40B4-BE49-F238E27FC236}">
                <a16:creationId xmlns:a16="http://schemas.microsoft.com/office/drawing/2014/main" id="{EB2D6F4C-8763-44B8-9B9D-1BCF3BEF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947672"/>
            <a:ext cx="21945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Manual Override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8" name="Google Shape;458;p26">
            <a:extLst xmlns:a="http://schemas.openxmlformats.org/drawingml/2006/main">
              <a:ext uri="{FF2B5EF4-FFF2-40B4-BE49-F238E27FC236}">
                <a16:creationId xmlns:a16="http://schemas.microsoft.com/office/drawing/2014/main" id="{659A066F-D6AB-48FD-B4C3-D10BA4AB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468880"/>
            <a:ext cx="2651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3DE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FFF3DE"/>
                </a:solidFill>
                <a:latin typeface="Calibri"/>
                <a:ea typeface="Calibri"/>
                <a:cs typeface="Calibri"/>
              </a:rPr>
              <a:t>Manual commands help testing, but never bypass the low-water safety lock.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9" name="Google Shape;459;p26">
            <a:extLst xmlns:a="http://schemas.openxmlformats.org/drawingml/2006/main">
              <a:ext uri="{FF2B5EF4-FFF2-40B4-BE49-F238E27FC236}">
                <a16:creationId xmlns:a16="http://schemas.microsoft.com/office/drawing/2014/main" id="{01A44DD2-826A-41DF-8448-2AA85E9A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108960"/>
            <a:ext cx="525780" cy="100584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6">
            <a:extLst xmlns:a="http://schemas.openxmlformats.org/drawingml/2006/main">
              <a:ext uri="{FF2B5EF4-FFF2-40B4-BE49-F238E27FC236}">
                <a16:creationId xmlns:a16="http://schemas.microsoft.com/office/drawing/2014/main" id="{E204CEC5-5D3A-4C0B-8C42-1DD0A50E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7950" y="3154675"/>
            <a:ext cx="457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 Mode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(default)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1" name="Google Shape;461;p26">
            <a:extLst xmlns:a="http://schemas.openxmlformats.org/drawingml/2006/main">
              <a:ext uri="{FF2B5EF4-FFF2-40B4-BE49-F238E27FC236}">
                <a16:creationId xmlns:a16="http://schemas.microsoft.com/office/drawing/2014/main" id="{16DFA096-E15D-4FC8-AEDC-B29D3194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588" y="3474720"/>
            <a:ext cx="146304" cy="27432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6">
            <a:extLst xmlns:a="http://schemas.openxmlformats.org/drawingml/2006/main">
              <a:ext uri="{FF2B5EF4-FFF2-40B4-BE49-F238E27FC236}">
                <a16:creationId xmlns:a16="http://schemas.microsoft.com/office/drawing/2014/main" id="{BFD1AFB6-24F7-4DC3-848A-B2EC97E5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3108960"/>
            <a:ext cx="525780" cy="100584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6">
            <a:extLst xmlns:a="http://schemas.openxmlformats.org/drawingml/2006/main">
              <a:ext uri="{FF2B5EF4-FFF2-40B4-BE49-F238E27FC236}">
                <a16:creationId xmlns:a16="http://schemas.microsoft.com/office/drawing/2014/main" id="{4928FD97-9B36-4EF9-98E3-E68A4F9F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13" y="3271788"/>
            <a:ext cx="525900" cy="7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 switches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MANUAL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4" name="Google Shape;464;p26">
            <a:extLst xmlns:a="http://schemas.openxmlformats.org/drawingml/2006/main">
              <a:ext uri="{FF2B5EF4-FFF2-40B4-BE49-F238E27FC236}">
                <a16:creationId xmlns:a16="http://schemas.microsoft.com/office/drawing/2014/main" id="{B86927C2-AD25-46B7-BBF7-992034FF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3474720"/>
            <a:ext cx="146304" cy="27432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6">
            <a:extLst xmlns:a="http://schemas.openxmlformats.org/drawingml/2006/main">
              <a:ext uri="{FF2B5EF4-FFF2-40B4-BE49-F238E27FC236}">
                <a16:creationId xmlns:a16="http://schemas.microsoft.com/office/drawing/2014/main" id="{BA948E6D-4B34-48A4-8F31-118F9453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3108960"/>
            <a:ext cx="525780" cy="100584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6">
            <a:extLst xmlns:a="http://schemas.openxmlformats.org/drawingml/2006/main">
              <a:ext uri="{FF2B5EF4-FFF2-40B4-BE49-F238E27FC236}">
                <a16:creationId xmlns:a16="http://schemas.microsoft.com/office/drawing/2014/main" id="{8B473042-F27C-4444-9DEB-4AEC7376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778" y="3200400"/>
            <a:ext cx="525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Direct actuator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control (e.g. Pump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 10s)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7" name="Google Shape;467;p26">
            <a:extLst xmlns:a="http://schemas.openxmlformats.org/drawingml/2006/main">
              <a:ext uri="{FF2B5EF4-FFF2-40B4-BE49-F238E27FC236}">
                <a16:creationId xmlns:a16="http://schemas.microsoft.com/office/drawing/2014/main" id="{E7734CBF-F907-4EE2-8602-93C3DD73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474720"/>
            <a:ext cx="146304" cy="27432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6">
            <a:extLst xmlns:a="http://schemas.openxmlformats.org/drawingml/2006/main">
              <a:ext uri="{FF2B5EF4-FFF2-40B4-BE49-F238E27FC236}">
                <a16:creationId xmlns:a16="http://schemas.microsoft.com/office/drawing/2014/main" id="{DAD0E518-BC98-4D8C-9533-23BEE10E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08960"/>
            <a:ext cx="525780" cy="100584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6">
            <a:extLst xmlns:a="http://schemas.openxmlformats.org/drawingml/2006/main">
              <a:ext uri="{FF2B5EF4-FFF2-40B4-BE49-F238E27FC236}">
                <a16:creationId xmlns:a16="http://schemas.microsoft.com/office/drawing/2014/main" id="{10BFFF9E-E5DE-4F9E-9A68-9521FE7A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1652" y="3154680"/>
            <a:ext cx="379476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Returns to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sz="9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 Mode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0" name="Google Shape;470;p26">
            <a:extLst xmlns:a="http://schemas.openxmlformats.org/drawingml/2006/main">
              <a:ext uri="{FF2B5EF4-FFF2-40B4-BE49-F238E27FC236}">
                <a16:creationId xmlns:a16="http://schemas.microsoft.com/office/drawing/2014/main" id="{C87D1201-63D1-4AC1-AB03-6FE60CCE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389120"/>
            <a:ext cx="265176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sz="10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Available for water pump, fan and the prototype grow-light indicator.</a:t>
            </a:r>
            <a:endParaRPr sz="10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1" name="Google Shape;471;p26">
            <a:extLst xmlns:a="http://schemas.openxmlformats.org/drawingml/2006/main">
              <a:ext uri="{FF2B5EF4-FFF2-40B4-BE49-F238E27FC236}">
                <a16:creationId xmlns:a16="http://schemas.microsoft.com/office/drawing/2014/main" id="{7132ECEE-E110-40DF-92E2-D470B6FC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12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90800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7" name="Google Shape;477;p27">
            <a:extLst xmlns:a="http://schemas.openxmlformats.org/drawingml/2006/main">
              <a:ext uri="{FF2B5EF4-FFF2-40B4-BE49-F238E27FC236}">
                <a16:creationId xmlns:a16="http://schemas.microsoft.com/office/drawing/2014/main" id="{A86394EC-C6D8-481F-B425-4E2BB9F0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(D) TASK ALLOCATIONS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8" name="Google Shape;478;p27">
            <a:extLst xmlns:a="http://schemas.openxmlformats.org/drawingml/2006/main">
              <a:ext uri="{FF2B5EF4-FFF2-40B4-BE49-F238E27FC236}">
                <a16:creationId xmlns:a16="http://schemas.microsoft.com/office/drawing/2014/main" id="{5C44786A-FADB-4A86-B310-8991B280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Task Allocation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84" name="Google Shape;479;p27"/>
          <p:cNvGraphicFramePr/>
          <p:nvPr/>
        </p:nvGraphicFramePr>
        <p:xfrm>
          <a:off xmlns:a="http://schemas.openxmlformats.org/drawingml/2006/main" x="548640" y="15544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{8EE72CCD-7DEC-44B5-BE62-3EE02A22F0E7}</a:tableStyleId>
              </a:tblPr>
              <a:tblGrid>
                <a:gridCol w="1920250"/>
                <a:gridCol w="2286000"/>
                <a:gridCol w="68580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sz="1250" b="1" u="none" cap="none">
                          <a:solidFill>
                            <a:srgbClr val="FFFFFF"/>
                          </a:solidFill>
                        </a:rPr>
                        <a:t>Member</a:t>
                      </a:r>
                      <a:endParaRPr sz="125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sz="1250" b="1" u="none" cap="none">
                          <a:solidFill>
                            <a:srgbClr val="FFFFFF"/>
                          </a:solidFill>
                        </a:rPr>
                        <a:t>Module</a:t>
                      </a:r>
                      <a:endParaRPr sz="125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sz="1250" b="1" u="none" cap="none">
                          <a:solidFill>
                            <a:srgbClr val="FFFFFF"/>
                          </a:solidFill>
                        </a:rPr>
                        <a:t>Key Responsibilities</a:t>
                      </a:r>
                      <a:endParaRPr sz="125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2C5F2D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>
                          <a:solidFill>
                            <a:srgbClr val="27321F"/>
                          </a:solidFill>
                        </a:rPr>
                        <a:t>Kueh Jian Wei</a:t>
                      </a:r>
                      <a:endParaRPr sz="1100">
                        <a:solidFill>
                          <a:srgbClr val="27321F"/>
                        </a:solidFill>
                      </a:endParaRPr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>
                          <a:solidFill>
                            <a:srgbClr val="27321F"/>
                          </a:solidFill>
                        </a:rPr>
                        <a:t>Module 1</a:t>
                      </a:r>
                      <a:endParaRPr sz="1100">
                        <a:solidFill>
                          <a:srgbClr val="27321F"/>
                        </a:solidFill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F4F7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 u="none" cap="none">
                          <a:solidFill>
                            <a:srgbClr val="27321F"/>
                          </a:solidFill>
                        </a:rPr>
                        <a:t>Smart Irrigation</a:t>
                      </a:r>
                      <a:endParaRPr sz="11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 u="none" cap="none">
                          <a:solidFill>
                            <a:srgbClr val="27321F"/>
                          </a:solidFill>
                        </a:rPr>
                        <a:t>Soil moisture; humidity + forecast rules; AUTO/MANUAL pump control and low-water lock.</a:t>
                      </a:r>
                      <a:endParaRPr sz="11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>
                          <a:solidFill>
                            <a:srgbClr val="27321F"/>
                          </a:solidFill>
                        </a:rPr>
                        <a:t>Tey Ying Heng</a:t>
                      </a:r>
                      <a:endParaRPr sz="1100">
                        <a:solidFill>
                          <a:srgbClr val="27321F"/>
                        </a:solidFill>
                      </a:endParaRPr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>
                          <a:solidFill>
                            <a:srgbClr val="27321F"/>
                          </a:solidFill>
                        </a:rPr>
                        <a:t>Module 2</a:t>
                      </a:r>
                      <a:endParaRPr sz="1100">
                        <a:solidFill>
                          <a:srgbClr val="27321F"/>
                        </a:solidFill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F4F7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 u="none" cap="none">
                          <a:solidFill>
                            <a:srgbClr val="27321F"/>
                          </a:solidFill>
                        </a:rPr>
                        <a:t>Climate Control</a:t>
                      </a:r>
                      <a:endParaRPr sz="11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 u="none" cap="none">
                          <a:solidFill>
                            <a:srgbClr val="27321F"/>
                          </a:solidFill>
                        </a:rPr>
                        <a:t>DHT11 temperature/humidity + LDR; fan and yellow LED prototype grow-light indicator.</a:t>
                      </a:r>
                      <a:endParaRPr sz="11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/>
                        <a:t>Heng Jing Le</a:t>
                      </a:r>
                      <a:endParaRPr sz="1100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/>
                        <a:t>Module 3</a:t>
                      </a:r>
                      <a:endParaRPr sz="1100"/>
                    </a:p>
                  </a:txBody>
                  <a:tcPr marL="91450" marR="91450" marT="45725" marB="45725" anchor="ctr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F4F7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 u="none" cap="none">
                          <a:solidFill>
                            <a:srgbClr val="27321F"/>
                          </a:solidFill>
                        </a:rPr>
                        <a:t>Water Tank &amp;</a:t>
                      </a:r>
                      <a:endParaRPr sz="1100" u="none" cap="none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 u="none" cap="none">
                          <a:solidFill>
                            <a:srgbClr val="27321F"/>
                          </a:solidFill>
                        </a:rPr>
                        <a:t>Resource Mgmt</a:t>
                      </a:r>
                      <a:endParaRPr sz="11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 u="none" cap="none">
                          <a:solidFill>
                            <a:srgbClr val="27321F"/>
                          </a:solidFill>
                        </a:rPr>
                        <a:t>Water-level calibration and percentage; pump lock; runtime usage estimate and history.</a:t>
                      </a:r>
                      <a:endParaRPr sz="11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>
                          <a:solidFill>
                            <a:srgbClr val="27321F"/>
                          </a:solidFill>
                        </a:rPr>
                        <a:t>Foo Tun Wei</a:t>
                      </a:r>
                      <a:endParaRPr sz="1100">
                        <a:solidFill>
                          <a:srgbClr val="27321F"/>
                        </a:solidFill>
                      </a:endParaRPr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>
                          <a:solidFill>
                            <a:srgbClr val="27321F"/>
                          </a:solidFill>
                        </a:rPr>
                        <a:t>Module 4</a:t>
                      </a:r>
                      <a:endParaRPr sz="1100">
                        <a:solidFill>
                          <a:srgbClr val="27321F"/>
                        </a:solidFill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F4F7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 u="none" cap="none">
                          <a:solidFill>
                            <a:srgbClr val="27321F"/>
                          </a:solidFill>
                        </a:rPr>
                        <a:t>Farm Safety &amp;</a:t>
                      </a:r>
                      <a:endParaRPr sz="1100" u="none" cap="none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 u="none" cap="none">
                          <a:solidFill>
                            <a:srgbClr val="27321F"/>
                          </a:solidFill>
                        </a:rPr>
                        <a:t>Crop Health Monitoring</a:t>
                      </a:r>
                      <a:endParaRPr sz="11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321F"/>
                        </a:buClr>
                        <a:buSzPts val="1100"/>
                        <a:buFont typeface="Calibri"/>
                        <a:buNone/>
                      </a:pPr>
                      <a:r>
                        <a:rPr sz="1100" u="none" cap="none">
                          <a:solidFill>
                            <a:srgbClr val="27321F"/>
                          </a:solidFill>
                        </a:rPr>
                        <a:t>Laptop + webcam; validation, HSV trends/risk, MQTT alerts and Supabase growth diary.</a:t>
                      </a:r>
                      <a:endParaRPr sz="11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CE6D4"/>
                      </a:solidFill>
                      <a:prstDash val="solid"/>
                    </a:lnL>
                    <a:lnR w="9525" cmpd="sng">
                      <a:solidFill>
                        <a:srgbClr val="DCE6D4"/>
                      </a:solidFill>
                      <a:prstDash val="solid"/>
                    </a:lnR>
                    <a:lnT w="9525" cmpd="sng">
                      <a:solidFill>
                        <a:srgbClr val="DCE6D4"/>
                      </a:solidFill>
                      <a:prstDash val="solid"/>
                    </a:lnT>
                    <a:lnB w="9525" cmpd="sng">
                      <a:solidFill>
                        <a:srgbClr val="DCE6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0" name="Google Shape;480;p27">
            <a:extLst xmlns:a="http://schemas.openxmlformats.org/drawingml/2006/main">
              <a:ext uri="{FF2B5EF4-FFF2-40B4-BE49-F238E27FC236}">
                <a16:creationId xmlns:a16="http://schemas.microsoft.com/office/drawing/2014/main" id="{00221269-8FB1-4ADB-AD26-F918D215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13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05695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6" name="Google Shape;486;p28">
            <a:extLst xmlns:a="http://schemas.openxmlformats.org/drawingml/2006/main">
              <a:ext uri="{FF2B5EF4-FFF2-40B4-BE49-F238E27FC236}">
                <a16:creationId xmlns:a16="http://schemas.microsoft.com/office/drawing/2014/main" id="{F4A38DBC-F06B-486D-9131-CC0E1980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RISK MANAGEMENT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7" name="Google Shape;487;p28">
            <a:extLst xmlns:a="http://schemas.openxmlformats.org/drawingml/2006/main">
              <a:ext uri="{FF2B5EF4-FFF2-40B4-BE49-F238E27FC236}">
                <a16:creationId xmlns:a16="http://schemas.microsoft.com/office/drawing/2014/main" id="{F51A1C7B-20CB-42B1-923B-069A010F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2C5F2D"/>
                </a:solidFill>
                <a:latin typeface="Cambria"/>
                <a:ea typeface="Cambria"/>
                <a:cs typeface="Cambria"/>
              </a:rPr>
              <a:t>Development Priority: MVP First, Stretch Later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8" name="Google Shape;488;p28">
            <a:extLst xmlns:a="http://schemas.openxmlformats.org/drawingml/2006/main">
              <a:ext uri="{FF2B5EF4-FFF2-40B4-BE49-F238E27FC236}">
                <a16:creationId xmlns:a16="http://schemas.microsoft.com/office/drawing/2014/main" id="{5DBA6B51-7751-4F48-AC81-067864DA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Ensures a stable, complete demo even if advanced features run out of time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9" name="Google Shape;489;p28">
            <a:extLst xmlns:a="http://schemas.openxmlformats.org/drawingml/2006/main">
              <a:ext uri="{FF2B5EF4-FFF2-40B4-BE49-F238E27FC236}">
                <a16:creationId xmlns:a16="http://schemas.microsoft.com/office/drawing/2014/main" id="{DCB7FD1C-4FAD-43ED-AA3A-4FB40BFE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53492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8">
            <a:extLst xmlns:a="http://schemas.openxmlformats.org/drawingml/2006/main">
              <a:ext uri="{FF2B5EF4-FFF2-40B4-BE49-F238E27FC236}">
                <a16:creationId xmlns:a16="http://schemas.microsoft.com/office/drawing/2014/main" id="{2A1372A3-25B9-4906-8367-13F9748E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39112"/>
            <a:ext cx="4892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MUST-HAVE (MVP)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1" name="Google Shape;491;p28">
            <a:extLst xmlns:a="http://schemas.openxmlformats.org/drawingml/2006/main">
              <a:ext uri="{FF2B5EF4-FFF2-40B4-BE49-F238E27FC236}">
                <a16:creationId xmlns:a16="http://schemas.microsoft.com/office/drawing/2014/main" id="{F8B1210D-B8A8-4A38-9336-1DB914BB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8">
            <a:extLst xmlns:a="http://schemas.openxmlformats.org/drawingml/2006/main">
              <a:ext uri="{FF2B5EF4-FFF2-40B4-BE49-F238E27FC236}">
                <a16:creationId xmlns:a16="http://schemas.microsoft.com/office/drawing/2014/main" id="{CDF91C43-4ADD-4764-A781-5E20528B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395728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ESP32 Modules 1–3: sensor → rule → output loops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3" name="Google Shape;493;p28">
            <a:extLst xmlns:a="http://schemas.openxmlformats.org/drawingml/2006/main">
              <a:ext uri="{FF2B5EF4-FFF2-40B4-BE49-F238E27FC236}">
                <a16:creationId xmlns:a16="http://schemas.microsoft.com/office/drawing/2014/main" id="{A7F92EFB-D788-4371-AA76-D8D19295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4436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8">
            <a:extLst xmlns:a="http://schemas.openxmlformats.org/drawingml/2006/main">
              <a:ext uri="{FF2B5EF4-FFF2-40B4-BE49-F238E27FC236}">
                <a16:creationId xmlns:a16="http://schemas.microsoft.com/office/drawing/2014/main" id="{C14A5968-10E7-43D2-B954-F2BBEDF5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825496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Laptop OS platform: Node-RED + Python/OpenCV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5" name="Google Shape;495;p28">
            <a:extLst xmlns:a="http://schemas.openxmlformats.org/drawingml/2006/main">
              <a:ext uri="{FF2B5EF4-FFF2-40B4-BE49-F238E27FC236}">
                <a16:creationId xmlns:a16="http://schemas.microsoft.com/office/drawing/2014/main" id="{BFA11254-528A-4008-8183-D6DE411D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7413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8">
            <a:extLst xmlns:a="http://schemas.openxmlformats.org/drawingml/2006/main">
              <a:ext uri="{FF2B5EF4-FFF2-40B4-BE49-F238E27FC236}">
                <a16:creationId xmlns:a16="http://schemas.microsoft.com/office/drawing/2014/main" id="{0C3FC0B2-1BBF-4699-A612-B2B11B25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255264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AUTO/MANUAL control with low-water priority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7" name="Google Shape;497;p28">
            <a:extLst xmlns:a="http://schemas.openxmlformats.org/drawingml/2006/main">
              <a:ext uri="{FF2B5EF4-FFF2-40B4-BE49-F238E27FC236}">
                <a16:creationId xmlns:a16="http://schemas.microsoft.com/office/drawing/2014/main" id="{93C9DA0D-F66A-485C-A01D-FB6B011F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03904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8">
            <a:extLst xmlns:a="http://schemas.openxmlformats.org/drawingml/2006/main">
              <a:ext uri="{FF2B5EF4-FFF2-40B4-BE49-F238E27FC236}">
                <a16:creationId xmlns:a16="http://schemas.microsoft.com/office/drawing/2014/main" id="{BD3601C1-B62B-4578-9104-BAD977BB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85032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Weather API decision through Node-RED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9" name="Google Shape;499;p28">
            <a:extLst xmlns:a="http://schemas.openxmlformats.org/drawingml/2006/main">
              <a:ext uri="{FF2B5EF4-FFF2-40B4-BE49-F238E27FC236}">
                <a16:creationId xmlns:a16="http://schemas.microsoft.com/office/drawing/2014/main" id="{B0A24D4E-822D-4449-B45A-BFF79ED3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3367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8">
            <a:extLst xmlns:a="http://schemas.openxmlformats.org/drawingml/2006/main">
              <a:ext uri="{FF2B5EF4-FFF2-40B4-BE49-F238E27FC236}">
                <a16:creationId xmlns:a16="http://schemas.microsoft.com/office/drawing/2014/main" id="{DC72BC57-0D0D-4DCD-B8C4-6A8807CC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14800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Module 4 warnings + Supabase growth diary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1" name="Google Shape;501;p28">
            <a:extLst xmlns:a="http://schemas.openxmlformats.org/drawingml/2006/main">
              <a:ext uri="{FF2B5EF4-FFF2-40B4-BE49-F238E27FC236}">
                <a16:creationId xmlns:a16="http://schemas.microsoft.com/office/drawing/2014/main" id="{50793692-EE5E-4718-8B58-8DA4C53E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6344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8">
            <a:extLst xmlns:a="http://schemas.openxmlformats.org/drawingml/2006/main">
              <a:ext uri="{FF2B5EF4-FFF2-40B4-BE49-F238E27FC236}">
                <a16:creationId xmlns:a16="http://schemas.microsoft.com/office/drawing/2014/main" id="{278C8F5B-9158-470B-A045-3E003C5A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44568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Plant Profiles (Tomato, Chili) — fixed presets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3" name="Google Shape;503;p28">
            <a:extLst xmlns:a="http://schemas.openxmlformats.org/drawingml/2006/main">
              <a:ext uri="{FF2B5EF4-FFF2-40B4-BE49-F238E27FC236}">
                <a16:creationId xmlns:a16="http://schemas.microsoft.com/office/drawing/2014/main" id="{9D1EA899-DF21-48B3-AE07-80223596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74520"/>
            <a:ext cx="53492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6E9C5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8">
            <a:extLst xmlns:a="http://schemas.openxmlformats.org/drawingml/2006/main">
              <a:ext uri="{FF2B5EF4-FFF2-40B4-BE49-F238E27FC236}">
                <a16:creationId xmlns:a16="http://schemas.microsoft.com/office/drawing/2014/main" id="{4A4EF0AF-AA0F-423C-9EAB-AF4AC36C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39112"/>
            <a:ext cx="4892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2C5F2D"/>
                </a:solidFill>
                <a:latin typeface="Calibri"/>
                <a:ea typeface="Calibri"/>
                <a:cs typeface="Calibri"/>
              </a:rPr>
              <a:t>STRETCH (If Time Allows)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5" name="Google Shape;505;p28">
            <a:extLst xmlns:a="http://schemas.openxmlformats.org/drawingml/2006/main">
              <a:ext uri="{FF2B5EF4-FFF2-40B4-BE49-F238E27FC236}">
                <a16:creationId xmlns:a16="http://schemas.microsoft.com/office/drawing/2014/main" id="{77485B60-34D6-4E77-9F79-ED4D79C0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1460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8">
            <a:extLst xmlns:a="http://schemas.openxmlformats.org/drawingml/2006/main">
              <a:ext uri="{FF2B5EF4-FFF2-40B4-BE49-F238E27FC236}">
                <a16:creationId xmlns:a16="http://schemas.microsoft.com/office/drawing/2014/main" id="{C0C220D4-79E2-483F-99B2-0217512D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95728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More growth images + adjustable capture interval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7" name="Google Shape;507;p28">
            <a:extLst xmlns:a="http://schemas.openxmlformats.org/drawingml/2006/main">
              <a:ext uri="{FF2B5EF4-FFF2-40B4-BE49-F238E27FC236}">
                <a16:creationId xmlns:a16="http://schemas.microsoft.com/office/drawing/2014/main" id="{23586331-E8B5-43EC-9F96-A278B6F6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94436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8">
            <a:extLst xmlns:a="http://schemas.openxmlformats.org/drawingml/2006/main">
              <a:ext uri="{FF2B5EF4-FFF2-40B4-BE49-F238E27FC236}">
                <a16:creationId xmlns:a16="http://schemas.microsoft.com/office/drawing/2014/main" id="{1CDEC18F-055A-4376-9131-724A91AA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825496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Trend arrows across all dashboard widgets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9" name="Google Shape;509;p28">
            <a:extLst xmlns:a="http://schemas.openxmlformats.org/drawingml/2006/main">
              <a:ext uri="{FF2B5EF4-FFF2-40B4-BE49-F238E27FC236}">
                <a16:creationId xmlns:a16="http://schemas.microsoft.com/office/drawing/2014/main" id="{7FFFBADB-F310-471C-8D86-C65157C7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7413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8">
            <a:extLst xmlns:a="http://schemas.openxmlformats.org/drawingml/2006/main">
              <a:ext uri="{FF2B5EF4-FFF2-40B4-BE49-F238E27FC236}">
                <a16:creationId xmlns:a16="http://schemas.microsoft.com/office/drawing/2014/main" id="{2215AFE6-74A9-4B3B-AE8E-2684864E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255264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Editable Plant Profiles from the dashboard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1" name="Google Shape;511;p28">
            <a:extLst xmlns:a="http://schemas.openxmlformats.org/drawingml/2006/main">
              <a:ext uri="{FF2B5EF4-FFF2-40B4-BE49-F238E27FC236}">
                <a16:creationId xmlns:a16="http://schemas.microsoft.com/office/drawing/2014/main" id="{EE144800-B149-4406-B1CE-53C03FE0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03904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8">
            <a:extLst xmlns:a="http://schemas.openxmlformats.org/drawingml/2006/main">
              <a:ext uri="{FF2B5EF4-FFF2-40B4-BE49-F238E27FC236}">
                <a16:creationId xmlns:a16="http://schemas.microsoft.com/office/drawing/2014/main" id="{824DF5DF-6DB4-4F9C-939A-8F8E0699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685032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Optional notification integration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3" name="Google Shape;513;p28">
            <a:extLst xmlns:a="http://schemas.openxmlformats.org/drawingml/2006/main">
              <a:ext uri="{FF2B5EF4-FFF2-40B4-BE49-F238E27FC236}">
                <a16:creationId xmlns:a16="http://schemas.microsoft.com/office/drawing/2014/main" id="{6D45E833-4559-46A1-8802-52170538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23367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8">
            <a:extLst xmlns:a="http://schemas.openxmlformats.org/drawingml/2006/main">
              <a:ext uri="{FF2B5EF4-FFF2-40B4-BE49-F238E27FC236}">
                <a16:creationId xmlns:a16="http://schemas.microsoft.com/office/drawing/2014/main" id="{378CD5B3-8364-4232-9859-004AFB97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114800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Optional calibrated flow sensor for precise volume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5" name="Google Shape;515;p28">
            <a:extLst xmlns:a="http://schemas.openxmlformats.org/drawingml/2006/main">
              <a:ext uri="{FF2B5EF4-FFF2-40B4-BE49-F238E27FC236}">
                <a16:creationId xmlns:a16="http://schemas.microsoft.com/office/drawing/2014/main" id="{68B7A477-D4CE-4B4D-8210-11D3AB3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6344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8">
            <a:extLst xmlns:a="http://schemas.openxmlformats.org/drawingml/2006/main">
              <a:ext uri="{FF2B5EF4-FFF2-40B4-BE49-F238E27FC236}">
                <a16:creationId xmlns:a16="http://schemas.microsoft.com/office/drawing/2014/main" id="{934DB130-5DBF-4344-A2F0-3D226C1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544568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7321F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27321F"/>
                </a:solidFill>
                <a:latin typeface="Calibri"/>
                <a:ea typeface="Calibri"/>
                <a:cs typeface="Calibri"/>
              </a:rPr>
              <a:t>Additional calibrated cameras and lighting checks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7" name="Google Shape;517;p28">
            <a:extLst xmlns:a="http://schemas.openxmlformats.org/drawingml/2006/main">
              <a:ext uri="{FF2B5EF4-FFF2-40B4-BE49-F238E27FC236}">
                <a16:creationId xmlns:a16="http://schemas.microsoft.com/office/drawing/2014/main" id="{A08B3661-8252-492C-B0F6-C6EE45A4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14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40904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C5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3" name="Google Shape;523;p29">
            <a:extLst xmlns:a="http://schemas.openxmlformats.org/drawingml/2006/main">
              <a:ext uri="{FF2B5EF4-FFF2-40B4-BE49-F238E27FC236}">
                <a16:creationId xmlns:a16="http://schemas.microsoft.com/office/drawing/2014/main" id="{F303E781-BF65-4141-A9AC-9AFD49C8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420624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C57">
              <a:alpha val="2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9">
            <a:extLst xmlns:a="http://schemas.openxmlformats.org/drawingml/2006/main">
              <a:ext uri="{FF2B5EF4-FFF2-40B4-BE49-F238E27FC236}">
                <a16:creationId xmlns:a16="http://schemas.microsoft.com/office/drawing/2014/main" id="{FC06BC55-A1F1-4E1D-908D-A1CC2A0F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CONCLUSION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5" name="Google Shape;525;p29">
            <a:extLst xmlns:a="http://schemas.openxmlformats.org/drawingml/2006/main">
              <a:ext uri="{FF2B5EF4-FFF2-40B4-BE49-F238E27FC236}">
                <a16:creationId xmlns:a16="http://schemas.microsoft.com/office/drawing/2014/main" id="{1AB37EC3-9D1D-4968-90F1-09AED13F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sz="3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Expected Outcomes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6" name="Google Shape;526;p29">
            <a:extLst xmlns:a="http://schemas.openxmlformats.org/drawingml/2006/main">
              <a:ext uri="{FF2B5EF4-FFF2-40B4-BE49-F238E27FC236}">
                <a16:creationId xmlns:a16="http://schemas.microsoft.com/office/drawing/2014/main" id="{921D47C8-CDD1-46F8-B4CF-B07BC320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342900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2700" cmpd="sng">
            <a:solidFill>
              <a:srgbClr val="6E9C5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9">
            <a:extLst xmlns:a="http://schemas.openxmlformats.org/drawingml/2006/main">
              <a:ext uri="{FF2B5EF4-FFF2-40B4-BE49-F238E27FC236}">
                <a16:creationId xmlns:a16="http://schemas.microsoft.com/office/drawing/2014/main" id="{A3B92697-4E38-49C0-9601-6632AD25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75688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550"/>
              <a:buFont typeface="Calibri"/>
              <a:buNone/>
            </a:pPr>
            <a:r>
              <a:rPr sz="155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Water Savings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8" name="Google Shape;528;p29">
            <a:extLst xmlns:a="http://schemas.openxmlformats.org/drawingml/2006/main">
              <a:ext uri="{FF2B5EF4-FFF2-40B4-BE49-F238E27FC236}">
                <a16:creationId xmlns:a16="http://schemas.microsoft.com/office/drawing/2014/main" id="{A484E4A7-0ED2-45D4-BBD2-F9C51CE0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51760"/>
            <a:ext cx="2971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3EEDA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E3EEDA"/>
                </a:solidFill>
                <a:latin typeface="Calibri"/>
                <a:ea typeface="Calibri"/>
                <a:cs typeface="Calibri"/>
              </a:rPr>
              <a:t>Rain-aware irrigation avoids blind over-watering compared to fixed-schedule systems.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9" name="Google Shape;529;p29">
            <a:extLst xmlns:a="http://schemas.openxmlformats.org/drawingml/2006/main">
              <a:ext uri="{FF2B5EF4-FFF2-40B4-BE49-F238E27FC236}">
                <a16:creationId xmlns:a16="http://schemas.microsoft.com/office/drawing/2014/main" id="{2F37D19B-DAE9-4A39-9384-E0D78988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874520"/>
            <a:ext cx="342900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2700" cmpd="sng">
            <a:solidFill>
              <a:srgbClr val="6E9C5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9">
            <a:extLst xmlns:a="http://schemas.openxmlformats.org/drawingml/2006/main">
              <a:ext uri="{FF2B5EF4-FFF2-40B4-BE49-F238E27FC236}">
                <a16:creationId xmlns:a16="http://schemas.microsoft.com/office/drawing/2014/main" id="{DEB0747F-4425-4C6C-9BF7-BEC1FCDA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75688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550"/>
              <a:buFont typeface="Calibri"/>
              <a:buNone/>
            </a:pPr>
            <a:r>
              <a:rPr sz="155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Traceable Monitoring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1" name="Google Shape;531;p29">
            <a:extLst xmlns:a="http://schemas.openxmlformats.org/drawingml/2006/main">
              <a:ext uri="{FF2B5EF4-FFF2-40B4-BE49-F238E27FC236}">
                <a16:creationId xmlns:a16="http://schemas.microsoft.com/office/drawing/2014/main" id="{3245B73B-311E-4C6A-AAAF-6E409DAF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651760"/>
            <a:ext cx="2971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3EEDA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E3EEDA"/>
                </a:solidFill>
                <a:latin typeface="Calibri"/>
                <a:ea typeface="Calibri"/>
                <a:cs typeface="Calibri"/>
              </a:rPr>
              <a:t>Supabase logs sensor history, pump-runtime estimates and growth images without claiming precise flow.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2" name="Google Shape;532;p29">
            <a:extLst xmlns:a="http://schemas.openxmlformats.org/drawingml/2006/main">
              <a:ext uri="{FF2B5EF4-FFF2-40B4-BE49-F238E27FC236}">
                <a16:creationId xmlns:a16="http://schemas.microsoft.com/office/drawing/2014/main" id="{A633434C-4E70-41DF-AAC6-44766BD3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874520"/>
            <a:ext cx="342900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2700" cmpd="sng">
            <a:solidFill>
              <a:srgbClr val="6E9C5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9">
            <a:extLst xmlns:a="http://schemas.openxmlformats.org/drawingml/2006/main">
              <a:ext uri="{FF2B5EF4-FFF2-40B4-BE49-F238E27FC236}">
                <a16:creationId xmlns:a16="http://schemas.microsoft.com/office/drawing/2014/main" id="{FC7B553C-6CC5-4555-9876-4C01B225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075688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8A2C"/>
              </a:buClr>
              <a:buSzPts val="1550"/>
              <a:buFont typeface="Calibri"/>
              <a:buNone/>
            </a:pPr>
            <a:r>
              <a:rPr sz="1550" b="1" i="0" u="none" cap="none">
                <a:solidFill>
                  <a:srgbClr val="C98A2C"/>
                </a:solidFill>
                <a:latin typeface="Calibri"/>
                <a:ea typeface="Calibri"/>
                <a:cs typeface="Calibri"/>
              </a:rPr>
              <a:t>Faster, Safer Response</a:t>
            </a:r>
            <a:endParaRPr sz="1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4" name="Google Shape;534;p29">
            <a:extLst xmlns:a="http://schemas.openxmlformats.org/drawingml/2006/main">
              <a:ext uri="{FF2B5EF4-FFF2-40B4-BE49-F238E27FC236}">
                <a16:creationId xmlns:a16="http://schemas.microsoft.com/office/drawing/2014/main" id="{27BA212F-04D3-4EDF-B776-806DFE35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51760"/>
            <a:ext cx="2971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3EEDA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E3EEDA"/>
                </a:solidFill>
                <a:latin typeface="Calibri"/>
                <a:ea typeface="Calibri"/>
                <a:cs typeface="Calibri"/>
              </a:rPr>
              <a:t>Low-water lock and crop-health warnings guide inspection; Manual control remains subordinate to safety.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5" name="Google Shape;535;p29">
            <a:extLst xmlns:a="http://schemas.openxmlformats.org/drawingml/2006/main">
              <a:ext uri="{FF2B5EF4-FFF2-40B4-BE49-F238E27FC236}">
                <a16:creationId xmlns:a16="http://schemas.microsoft.com/office/drawing/2014/main" id="{281B06A0-B585-40F3-AE5D-02CE92E5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0515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sz="2000" b="0" i="1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Scope refined · implementation aligned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6" name="Google Shape;536;p29">
            <a:extLst xmlns:a="http://schemas.openxmlformats.org/drawingml/2006/main">
              <a:ext uri="{FF2B5EF4-FFF2-40B4-BE49-F238E27FC236}">
                <a16:creationId xmlns:a16="http://schemas.microsoft.com/office/drawing/2014/main" id="{346E6F2C-B93F-498D-B469-FB7C02AF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A63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6B7A63"/>
                </a:solidFill>
                <a:latin typeface="Calibri"/>
                <a:ea typeface="Calibri"/>
                <a:cs typeface="Calibri"/>
              </a:rPr>
              <a:t>15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94649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2026-09-01T19:54:09.2340000Z</dcterms:created>
  <dcterms:modified xsi:type="dcterms:W3CDTF">2026-09-01T19:54:09.2340000Z</dcterms:modified>
</coreProperties>
</file>